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Aptos Bold" panose="020B0604020202020204" charset="0"/>
      <p:regular r:id="rId10"/>
    </p:embeddedFont>
    <p:embeddedFont>
      <p:font typeface="League Spartan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78" y="10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91500" y="0"/>
            <a:ext cx="10096500" cy="10287000"/>
          </a:xfrm>
          <a:custGeom>
            <a:avLst/>
            <a:gdLst/>
            <a:ahLst/>
            <a:cxnLst/>
            <a:rect l="l" t="t" r="r" b="b"/>
            <a:pathLst>
              <a:path w="10096500" h="10287000">
                <a:moveTo>
                  <a:pt x="0" y="0"/>
                </a:moveTo>
                <a:lnTo>
                  <a:pt x="10096500" y="0"/>
                </a:lnTo>
                <a:lnTo>
                  <a:pt x="10096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" b="-1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7905750" y="0"/>
            <a:ext cx="10382250" cy="10287000"/>
            <a:chOff x="0" y="0"/>
            <a:chExt cx="13843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43000" cy="13716000"/>
            </a:xfrm>
            <a:custGeom>
              <a:avLst/>
              <a:gdLst/>
              <a:ahLst/>
              <a:cxnLst/>
              <a:rect l="l" t="t" r="r" b="b"/>
              <a:pathLst>
                <a:path w="13843000" h="13716000">
                  <a:moveTo>
                    <a:pt x="0" y="0"/>
                  </a:moveTo>
                  <a:lnTo>
                    <a:pt x="13843000" y="0"/>
                  </a:lnTo>
                  <a:lnTo>
                    <a:pt x="13843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F2A">
                <a:alpha val="27843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843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5397" y="1604962"/>
            <a:ext cx="8002707" cy="2919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2"/>
              </a:lnSpc>
            </a:pPr>
            <a:r>
              <a:rPr lang="en-US" sz="795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Desarrollo</a:t>
            </a:r>
          </a:p>
          <a:p>
            <a:pPr algn="l">
              <a:lnSpc>
                <a:spcPts val="7552"/>
              </a:lnSpc>
            </a:pPr>
            <a:r>
              <a:rPr lang="en-US" sz="795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Proyecto APT,</a:t>
            </a:r>
          </a:p>
          <a:p>
            <a:pPr algn="l">
              <a:lnSpc>
                <a:spcPts val="7552"/>
              </a:lnSpc>
            </a:pPr>
            <a:r>
              <a:rPr lang="en-US" sz="795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Fase 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750" y="5076825"/>
            <a:ext cx="6858000" cy="402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550">
                <a:solidFill>
                  <a:srgbClr val="DCE7E4"/>
                </a:solidFill>
                <a:latin typeface="Aptos"/>
                <a:ea typeface="Aptos"/>
                <a:cs typeface="Aptos"/>
                <a:sym typeface="Aptos"/>
              </a:rPr>
              <a:t>Resumen de avance, monitoreo y ajustes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47750" y="6572250"/>
            <a:ext cx="1143000" cy="95250"/>
            <a:chOff x="0" y="0"/>
            <a:chExt cx="1524000" cy="127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4000" cy="127000"/>
            </a:xfrm>
            <a:custGeom>
              <a:avLst/>
              <a:gdLst/>
              <a:ahLst/>
              <a:cxnLst/>
              <a:rect l="l" t="t" r="r" b="b"/>
              <a:pathLst>
                <a:path w="1524000" h="127000">
                  <a:moveTo>
                    <a:pt x="0" y="0"/>
                  </a:moveTo>
                  <a:lnTo>
                    <a:pt x="1524000" y="0"/>
                  </a:lnTo>
                  <a:lnTo>
                    <a:pt x="152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7A4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2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47750" y="7200900"/>
            <a:ext cx="2857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144">
                <a:solidFill>
                  <a:srgbClr val="26B6A5"/>
                </a:solidFill>
                <a:latin typeface="Aptos Bold"/>
                <a:ea typeface="Aptos Bold"/>
                <a:cs typeface="Aptos Bold"/>
                <a:sym typeface="Aptos Bold"/>
              </a:rPr>
              <a:t>CAPSTONE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7750" y="7791450"/>
            <a:ext cx="4762500" cy="3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14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800100"/>
            <a:ext cx="1428750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45"/>
              </a:lnSpc>
              <a:spcBef>
                <a:spcPct val="0"/>
              </a:spcBef>
            </a:pPr>
            <a:r>
              <a:rPr lang="en-US" sz="5100" b="1" u="none" strike="noStrike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Avance y evidencia funcional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562100"/>
            <a:ext cx="1000125" cy="76200"/>
            <a:chOff x="0" y="0"/>
            <a:chExt cx="1333500" cy="101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3500" cy="101600"/>
            </a:xfrm>
            <a:custGeom>
              <a:avLst/>
              <a:gdLst/>
              <a:ahLst/>
              <a:cxnLst/>
              <a:rect l="l" t="t" r="r" b="b"/>
              <a:pathLst>
                <a:path w="1333500" h="101600">
                  <a:moveTo>
                    <a:pt x="0" y="0"/>
                  </a:moveTo>
                  <a:lnTo>
                    <a:pt x="1333500" y="0"/>
                  </a:lnTo>
                  <a:lnTo>
                    <a:pt x="1333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F7A4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335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750" y="2657475"/>
            <a:ext cx="4476750" cy="1433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87"/>
              </a:lnSpc>
            </a:pPr>
            <a:r>
              <a:rPr lang="en-US" sz="11250" b="1">
                <a:solidFill>
                  <a:srgbClr val="26B6A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 + 1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750" y="3895725"/>
            <a:ext cx="44767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50">
                <a:solidFill>
                  <a:srgbClr val="14262E"/>
                </a:solidFill>
                <a:latin typeface="Aptos"/>
                <a:ea typeface="Aptos"/>
                <a:cs typeface="Aptos"/>
                <a:sym typeface="Aptos"/>
              </a:rPr>
              <a:t>módulos integrados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7750" y="4914900"/>
            <a:ext cx="59055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2400" b="1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Citas · Dueños · Mascotas · Boletas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750" y="5934075"/>
            <a:ext cx="59055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875">
                <a:solidFill>
                  <a:srgbClr val="687980"/>
                </a:solidFill>
                <a:latin typeface="Aptos"/>
                <a:ea typeface="Aptos"/>
                <a:cs typeface="Aptos"/>
                <a:sym typeface="Aptos"/>
              </a:rPr>
              <a:t>Extra: contacto con veterinaria para crear y registrar información de dueños.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810500" y="2238375"/>
            <a:ext cx="4191000" cy="2333625"/>
            <a:chOff x="0" y="0"/>
            <a:chExt cx="5588000" cy="31115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461000" cy="3111500"/>
              <a:chOff x="0" y="0"/>
              <a:chExt cx="5461000" cy="31115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461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5461000" h="3111500">
                    <a:moveTo>
                      <a:pt x="0" y="0"/>
                    </a:moveTo>
                    <a:lnTo>
                      <a:pt x="5461000" y="0"/>
                    </a:lnTo>
                    <a:lnTo>
                      <a:pt x="5461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7A4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5461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81000" y="501650"/>
              <a:ext cx="5207000" cy="977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7"/>
                </a:lnSpc>
              </a:pPr>
              <a:r>
                <a:rPr lang="en-US" sz="28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Objetivo</a:t>
              </a:r>
            </a:p>
            <a:p>
              <a:pPr algn="l">
                <a:lnSpc>
                  <a:spcPts val="2707"/>
                </a:lnSpc>
              </a:pPr>
              <a:r>
                <a:rPr lang="en-US" sz="28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Integrar contacto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87250" y="2238375"/>
            <a:ext cx="4191000" cy="2333625"/>
            <a:chOff x="0" y="0"/>
            <a:chExt cx="5588000" cy="31115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5461000" cy="3111500"/>
              <a:chOff x="0" y="0"/>
              <a:chExt cx="5461000" cy="31115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461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5461000" h="3111500">
                    <a:moveTo>
                      <a:pt x="0" y="0"/>
                    </a:moveTo>
                    <a:lnTo>
                      <a:pt x="5461000" y="0"/>
                    </a:lnTo>
                    <a:lnTo>
                      <a:pt x="5461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14262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5461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81000" y="501650"/>
              <a:ext cx="5207000" cy="977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7"/>
                </a:lnSpc>
              </a:pPr>
              <a:r>
                <a:rPr lang="en-US" sz="28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Método</a:t>
              </a:r>
            </a:p>
            <a:p>
              <a:pPr algn="l">
                <a:lnSpc>
                  <a:spcPts val="2707"/>
                </a:lnSpc>
              </a:pPr>
              <a:r>
                <a:rPr lang="en-US" sz="28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Sin ajustes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10500" y="5095875"/>
            <a:ext cx="4191000" cy="2333625"/>
            <a:chOff x="0" y="0"/>
            <a:chExt cx="5588000" cy="31115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5461000" cy="3111500"/>
              <a:chOff x="0" y="0"/>
              <a:chExt cx="5461000" cy="31115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461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5461000" h="3111500">
                    <a:moveTo>
                      <a:pt x="0" y="0"/>
                    </a:moveTo>
                    <a:lnTo>
                      <a:pt x="5461000" y="0"/>
                    </a:lnTo>
                    <a:lnTo>
                      <a:pt x="5461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14262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5461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81000" y="501650"/>
              <a:ext cx="5207000" cy="977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7"/>
                </a:lnSpc>
              </a:pPr>
              <a:r>
                <a:rPr lang="en-US" sz="28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Evidencia</a:t>
              </a:r>
            </a:p>
            <a:p>
              <a:pPr algn="l">
                <a:lnSpc>
                  <a:spcPts val="2707"/>
                </a:lnSpc>
              </a:pPr>
              <a:r>
                <a:rPr lang="en-US" sz="28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Código + video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287250" y="5095875"/>
            <a:ext cx="4191000" cy="2333625"/>
            <a:chOff x="0" y="0"/>
            <a:chExt cx="5588000" cy="31115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5461000" cy="3111500"/>
              <a:chOff x="0" y="0"/>
              <a:chExt cx="5461000" cy="31115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461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5461000" h="3111500">
                    <a:moveTo>
                      <a:pt x="0" y="0"/>
                    </a:moveTo>
                    <a:lnTo>
                      <a:pt x="5461000" y="0"/>
                    </a:lnTo>
                    <a:lnTo>
                      <a:pt x="5461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14262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5461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81000" y="501650"/>
              <a:ext cx="5207000" cy="977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7"/>
                </a:lnSpc>
              </a:pPr>
              <a:r>
                <a:rPr lang="en-US" sz="28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Repositorio</a:t>
              </a:r>
            </a:p>
            <a:p>
              <a:pPr algn="l">
                <a:lnSpc>
                  <a:spcPts val="2707"/>
                </a:lnSpc>
              </a:pPr>
              <a:r>
                <a:rPr lang="en-US" sz="28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Drive del equipo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47750" y="7762875"/>
            <a:ext cx="16192500" cy="1762125"/>
            <a:chOff x="0" y="0"/>
            <a:chExt cx="21590000" cy="23495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590000" cy="2349500"/>
            </a:xfrm>
            <a:custGeom>
              <a:avLst/>
              <a:gdLst/>
              <a:ahLst/>
              <a:cxnLst/>
              <a:rect l="l" t="t" r="r" b="b"/>
              <a:pathLst>
                <a:path w="21590000" h="2349500">
                  <a:moveTo>
                    <a:pt x="127000" y="0"/>
                  </a:moveTo>
                  <a:lnTo>
                    <a:pt x="21463000" y="0"/>
                  </a:lnTo>
                  <a:cubicBezTo>
                    <a:pt x="21533140" y="0"/>
                    <a:pt x="21590000" y="56860"/>
                    <a:pt x="21590000" y="127000"/>
                  </a:cubicBezTo>
                  <a:lnTo>
                    <a:pt x="21590000" y="2222500"/>
                  </a:lnTo>
                  <a:cubicBezTo>
                    <a:pt x="21590000" y="2292640"/>
                    <a:pt x="21533140" y="2349500"/>
                    <a:pt x="21463000" y="2349500"/>
                  </a:cubicBezTo>
                  <a:lnTo>
                    <a:pt x="127000" y="2349500"/>
                  </a:lnTo>
                  <a:cubicBezTo>
                    <a:pt x="56860" y="2349500"/>
                    <a:pt x="0" y="2292640"/>
                    <a:pt x="0" y="22225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32F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590000" cy="2387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57300" y="7934325"/>
            <a:ext cx="1428750" cy="462026"/>
            <a:chOff x="0" y="0"/>
            <a:chExt cx="1905000" cy="61603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05000" cy="616035"/>
            </a:xfrm>
            <a:custGeom>
              <a:avLst/>
              <a:gdLst/>
              <a:ahLst/>
              <a:cxnLst/>
              <a:rect l="l" t="t" r="r" b="b"/>
              <a:pathLst>
                <a:path w="1905000" h="616035">
                  <a:moveTo>
                    <a:pt x="76200" y="0"/>
                  </a:moveTo>
                  <a:lnTo>
                    <a:pt x="1828800" y="0"/>
                  </a:lnTo>
                  <a:cubicBezTo>
                    <a:pt x="1870884" y="0"/>
                    <a:pt x="1905000" y="34116"/>
                    <a:pt x="1905000" y="76200"/>
                  </a:cubicBezTo>
                  <a:lnTo>
                    <a:pt x="1905000" y="539835"/>
                  </a:lnTo>
                  <a:cubicBezTo>
                    <a:pt x="1905000" y="560044"/>
                    <a:pt x="1896972" y="579426"/>
                    <a:pt x="1882682" y="593716"/>
                  </a:cubicBezTo>
                  <a:cubicBezTo>
                    <a:pt x="1868391" y="608006"/>
                    <a:pt x="1849009" y="616035"/>
                    <a:pt x="1828800" y="616035"/>
                  </a:cubicBezTo>
                  <a:lnTo>
                    <a:pt x="76200" y="616035"/>
                  </a:lnTo>
                  <a:cubicBezTo>
                    <a:pt x="34116" y="616035"/>
                    <a:pt x="0" y="581919"/>
                    <a:pt x="0" y="53983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7A4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1905000" cy="635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r>
                <a:rPr lang="en-US" sz="999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EVIDENCIA FUNCIONAL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57300" y="8506015"/>
            <a:ext cx="1577340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Flujo demostrado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57300" y="8924925"/>
            <a:ext cx="15773400" cy="182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50">
                <a:solidFill>
                  <a:srgbClr val="DCE7E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Registro del dueño y su mascota → creación de una cita → emisión de una boleta. Evidencia visual: código, repositorio Drive del equipo y video demostrativo.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871755" y="653085"/>
            <a:ext cx="9265149" cy="752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8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25" b="0" i="0" u="none" strike="noStrike" kern="1200" cap="none" spc="-52" normalizeH="0" baseline="0" noProof="0" dirty="0" err="1">
                <a:ln>
                  <a:noFill/>
                </a:ln>
                <a:solidFill>
                  <a:srgbClr val="1B2D36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Diagrama</a:t>
            </a:r>
            <a:r>
              <a:rPr kumimoji="0" lang="en-US" sz="5325" b="0" i="0" u="none" strike="noStrike" kern="1200" cap="none" spc="-52" normalizeH="0" baseline="0" noProof="0" dirty="0">
                <a:ln>
                  <a:noFill/>
                </a:ln>
                <a:solidFill>
                  <a:srgbClr val="1B2D36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 de </a:t>
            </a:r>
            <a:r>
              <a:rPr kumimoji="0" lang="en-US" sz="5325" b="0" i="0" u="none" strike="noStrike" kern="1200" cap="none" spc="-52" normalizeH="0" baseline="0" noProof="0" dirty="0" err="1">
                <a:ln>
                  <a:noFill/>
                </a:ln>
                <a:solidFill>
                  <a:srgbClr val="1B2D36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casos</a:t>
            </a:r>
            <a:r>
              <a:rPr kumimoji="0" lang="en-US" sz="5325" b="0" i="0" u="none" strike="noStrike" kern="1200" cap="none" spc="-52" normalizeH="0" baseline="0" noProof="0" dirty="0">
                <a:ln>
                  <a:noFill/>
                </a:ln>
                <a:solidFill>
                  <a:srgbClr val="1B2D36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 de </a:t>
            </a:r>
            <a:r>
              <a:rPr kumimoji="0" lang="en-US" sz="5325" b="0" i="0" u="none" strike="noStrike" kern="1200" cap="none" spc="-52" normalizeH="0" baseline="0" noProof="0" dirty="0" err="1">
                <a:ln>
                  <a:noFill/>
                </a:ln>
                <a:solidFill>
                  <a:srgbClr val="1B2D36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uso</a:t>
            </a:r>
            <a:endParaRPr kumimoji="0" lang="en-US" sz="5325" b="0" i="0" u="none" strike="noStrike" kern="1200" cap="none" spc="-52" normalizeH="0" baseline="0" noProof="0" dirty="0">
              <a:ln>
                <a:noFill/>
              </a:ln>
              <a:solidFill>
                <a:srgbClr val="1B2D36"/>
              </a:solidFill>
              <a:effectLst/>
              <a:uLnTx/>
              <a:uFillTx/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864086" y="1497682"/>
            <a:ext cx="1323474" cy="218640"/>
          </a:xfrm>
          <a:custGeom>
            <a:avLst/>
            <a:gdLst/>
            <a:ahLst/>
            <a:cxnLst/>
            <a:rect l="l" t="t" r="r" b="b"/>
            <a:pathLst>
              <a:path w="1323474" h="218640">
                <a:moveTo>
                  <a:pt x="0" y="0"/>
                </a:moveTo>
                <a:lnTo>
                  <a:pt x="1323474" y="0"/>
                </a:lnTo>
                <a:lnTo>
                  <a:pt x="1323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4572000" y="1497682"/>
            <a:ext cx="9144000" cy="7936623"/>
          </a:xfrm>
          <a:custGeom>
            <a:avLst/>
            <a:gdLst/>
            <a:ahLst/>
            <a:cxnLst/>
            <a:rect l="l" t="t" r="r" b="b"/>
            <a:pathLst>
              <a:path w="9144000" h="7936623">
                <a:moveTo>
                  <a:pt x="0" y="0"/>
                </a:moveTo>
                <a:lnTo>
                  <a:pt x="9144000" y="0"/>
                </a:lnTo>
                <a:lnTo>
                  <a:pt x="9144000" y="7936623"/>
                </a:lnTo>
                <a:lnTo>
                  <a:pt x="0" y="7936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8927474" y="1729228"/>
            <a:ext cx="1109030" cy="2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9" b="1" i="0" u="none" strike="noStrike" kern="1200" cap="none" spc="0" normalizeH="0" baseline="0" noProof="0">
                <a:ln>
                  <a:noFill/>
                </a:ln>
                <a:solidFill>
                  <a:srgbClr val="393939"/>
                </a:solidFill>
                <a:effectLst/>
                <a:uLnTx/>
                <a:uFillTx/>
                <a:latin typeface="Aileron Ultra-Bold"/>
                <a:ea typeface="Aileron Ultra-Bold"/>
                <a:cs typeface="Aileron Ultra-Bold"/>
                <a:sym typeface="Aileron Ultra-Bold"/>
              </a:rPr>
              <a:t>Veterinaria</a:t>
            </a:r>
          </a:p>
        </p:txBody>
      </p:sp>
      <p:sp>
        <p:nvSpPr>
          <p:cNvPr id="7" name="Freeform 7"/>
          <p:cNvSpPr/>
          <p:nvPr/>
        </p:nvSpPr>
        <p:spPr>
          <a:xfrm>
            <a:off x="4998574" y="2995365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5654842" y="2995365"/>
            <a:ext cx="2406316" cy="655919"/>
          </a:xfrm>
          <a:custGeom>
            <a:avLst/>
            <a:gdLst/>
            <a:ahLst/>
            <a:cxnLst/>
            <a:rect l="l" t="t" r="r" b="b"/>
            <a:pathLst>
              <a:path w="2406316" h="655919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6956440" y="2350377"/>
            <a:ext cx="5239206" cy="874559"/>
          </a:xfrm>
          <a:custGeom>
            <a:avLst/>
            <a:gdLst/>
            <a:ahLst/>
            <a:cxnLst/>
            <a:rect l="l" t="t" r="r" b="b"/>
            <a:pathLst>
              <a:path w="5239206" h="874559">
                <a:moveTo>
                  <a:pt x="0" y="0"/>
                </a:moveTo>
                <a:lnTo>
                  <a:pt x="5239206" y="0"/>
                </a:lnTo>
                <a:lnTo>
                  <a:pt x="5239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5654842" y="3640352"/>
            <a:ext cx="1750048" cy="437279"/>
          </a:xfrm>
          <a:custGeom>
            <a:avLst/>
            <a:gdLst/>
            <a:ahLst/>
            <a:cxnLst/>
            <a:rect l="l" t="t" r="r" b="b"/>
            <a:pathLst>
              <a:path w="1750048" h="437279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7175196" y="3640352"/>
            <a:ext cx="2406316" cy="655919"/>
          </a:xfrm>
          <a:custGeom>
            <a:avLst/>
            <a:gdLst/>
            <a:ahLst/>
            <a:cxnLst/>
            <a:rect l="l" t="t" r="r" b="b"/>
            <a:pathLst>
              <a:path w="2406316" h="655919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5654842" y="3848060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6092354" y="4711687"/>
            <a:ext cx="4582938" cy="863627"/>
          </a:xfrm>
          <a:custGeom>
            <a:avLst/>
            <a:gdLst/>
            <a:ahLst/>
            <a:cxnLst/>
            <a:rect l="l" t="t" r="r" b="b"/>
            <a:pathLst>
              <a:path w="4582938" h="863627">
                <a:moveTo>
                  <a:pt x="0" y="0"/>
                </a:moveTo>
                <a:lnTo>
                  <a:pt x="4582938" y="0"/>
                </a:lnTo>
                <a:lnTo>
                  <a:pt x="458293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5873598" y="5356674"/>
            <a:ext cx="2406316" cy="1934962"/>
          </a:xfrm>
          <a:custGeom>
            <a:avLst/>
            <a:gdLst/>
            <a:ahLst/>
            <a:cxnLst/>
            <a:rect l="l" t="t" r="r" b="b"/>
            <a:pathLst>
              <a:path w="2406316" h="1934962">
                <a:moveTo>
                  <a:pt x="0" y="0"/>
                </a:moveTo>
                <a:lnTo>
                  <a:pt x="2406316" y="0"/>
                </a:lnTo>
                <a:lnTo>
                  <a:pt x="240631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8487732" y="5990729"/>
            <a:ext cx="2625072" cy="655919"/>
          </a:xfrm>
          <a:custGeom>
            <a:avLst/>
            <a:gdLst/>
            <a:ahLst/>
            <a:cxnLst/>
            <a:rect l="l" t="t" r="r" b="b"/>
            <a:pathLst>
              <a:path w="2625072" h="655919">
                <a:moveTo>
                  <a:pt x="0" y="0"/>
                </a:moveTo>
                <a:lnTo>
                  <a:pt x="2625072" y="0"/>
                </a:lnTo>
                <a:lnTo>
                  <a:pt x="262507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8732066" y="6217358"/>
            <a:ext cx="1709871" cy="2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9" b="1" i="0" u="none" strike="noStrike" kern="1200" cap="none" spc="0" normalizeH="0" baseline="0" noProof="0">
                <a:ln>
                  <a:noFill/>
                </a:ln>
                <a:solidFill>
                  <a:srgbClr val="393939"/>
                </a:solidFill>
                <a:effectLst/>
                <a:uLnTx/>
                <a:uFillTx/>
                <a:latin typeface="Aileron Ultra-Bold"/>
                <a:ea typeface="Aileron Ultra-Bold"/>
                <a:cs typeface="Aileron Ultra-Bold"/>
                <a:sym typeface="Aileron Ultra-Bold"/>
              </a:rPr>
              <a:t>Ingresa a sistema</a:t>
            </a:r>
          </a:p>
        </p:txBody>
      </p:sp>
      <p:sp>
        <p:nvSpPr>
          <p:cNvPr id="17" name="Freeform 17"/>
          <p:cNvSpPr/>
          <p:nvPr/>
        </p:nvSpPr>
        <p:spPr>
          <a:xfrm>
            <a:off x="5873598" y="6428009"/>
            <a:ext cx="2843828" cy="863627"/>
          </a:xfrm>
          <a:custGeom>
            <a:avLst/>
            <a:gdLst/>
            <a:ahLst/>
            <a:cxnLst/>
            <a:rect l="l" t="t" r="r" b="b"/>
            <a:pathLst>
              <a:path w="2843828" h="863627">
                <a:moveTo>
                  <a:pt x="0" y="0"/>
                </a:moveTo>
                <a:lnTo>
                  <a:pt x="2843828" y="0"/>
                </a:lnTo>
                <a:lnTo>
                  <a:pt x="284382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>
            <a:off x="7393952" y="6854356"/>
            <a:ext cx="4582938" cy="863627"/>
          </a:xfrm>
          <a:custGeom>
            <a:avLst/>
            <a:gdLst/>
            <a:ahLst/>
            <a:cxnLst/>
            <a:rect l="l" t="t" r="r" b="b"/>
            <a:pathLst>
              <a:path w="4582938" h="863627">
                <a:moveTo>
                  <a:pt x="0" y="0"/>
                </a:moveTo>
                <a:lnTo>
                  <a:pt x="4582938" y="0"/>
                </a:lnTo>
                <a:lnTo>
                  <a:pt x="458293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Freeform 19"/>
          <p:cNvSpPr/>
          <p:nvPr/>
        </p:nvSpPr>
        <p:spPr>
          <a:xfrm>
            <a:off x="5873598" y="7062064"/>
            <a:ext cx="1750048" cy="448211"/>
          </a:xfrm>
          <a:custGeom>
            <a:avLst/>
            <a:gdLst/>
            <a:ahLst/>
            <a:cxnLst/>
            <a:rect l="l" t="t" r="r" b="b"/>
            <a:pathLst>
              <a:path w="1750048" h="448211">
                <a:moveTo>
                  <a:pt x="0" y="0"/>
                </a:moveTo>
                <a:lnTo>
                  <a:pt x="1750048" y="0"/>
                </a:lnTo>
                <a:lnTo>
                  <a:pt x="175004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0" name="Freeform 20"/>
          <p:cNvSpPr/>
          <p:nvPr/>
        </p:nvSpPr>
        <p:spPr>
          <a:xfrm>
            <a:off x="4998574" y="6854356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5873598" y="7499343"/>
            <a:ext cx="1531292" cy="437279"/>
          </a:xfrm>
          <a:custGeom>
            <a:avLst/>
            <a:gdLst/>
            <a:ahLst/>
            <a:cxnLst/>
            <a:rect l="l" t="t" r="r" b="b"/>
            <a:pathLst>
              <a:path w="1531292" h="437279">
                <a:moveTo>
                  <a:pt x="0" y="0"/>
                </a:moveTo>
                <a:lnTo>
                  <a:pt x="1531292" y="0"/>
                </a:lnTo>
                <a:lnTo>
                  <a:pt x="153129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Freeform 22"/>
          <p:cNvSpPr/>
          <p:nvPr/>
        </p:nvSpPr>
        <p:spPr>
          <a:xfrm>
            <a:off x="7175196" y="7707051"/>
            <a:ext cx="1968804" cy="655919"/>
          </a:xfrm>
          <a:custGeom>
            <a:avLst/>
            <a:gdLst/>
            <a:ahLst/>
            <a:cxnLst/>
            <a:rect l="l" t="t" r="r" b="b"/>
            <a:pathLst>
              <a:path w="1968804" h="655919">
                <a:moveTo>
                  <a:pt x="0" y="0"/>
                </a:moveTo>
                <a:lnTo>
                  <a:pt x="1968804" y="0"/>
                </a:lnTo>
                <a:lnTo>
                  <a:pt x="196880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3" name="Freeform 23"/>
          <p:cNvSpPr/>
          <p:nvPr/>
        </p:nvSpPr>
        <p:spPr>
          <a:xfrm>
            <a:off x="5873598" y="7707051"/>
            <a:ext cx="1531292" cy="874559"/>
          </a:xfrm>
          <a:custGeom>
            <a:avLst/>
            <a:gdLst/>
            <a:ahLst/>
            <a:cxnLst/>
            <a:rect l="l" t="t" r="r" b="b"/>
            <a:pathLst>
              <a:path w="1531292" h="874559">
                <a:moveTo>
                  <a:pt x="0" y="0"/>
                </a:moveTo>
                <a:lnTo>
                  <a:pt x="1531292" y="0"/>
                </a:lnTo>
                <a:lnTo>
                  <a:pt x="153129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Freeform 24"/>
          <p:cNvSpPr/>
          <p:nvPr/>
        </p:nvSpPr>
        <p:spPr>
          <a:xfrm>
            <a:off x="6529866" y="8352038"/>
            <a:ext cx="2406316" cy="655919"/>
          </a:xfrm>
          <a:custGeom>
            <a:avLst/>
            <a:gdLst/>
            <a:ahLst/>
            <a:cxnLst/>
            <a:rect l="l" t="t" r="r" b="b"/>
            <a:pathLst>
              <a:path w="2406316" h="655919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5" name="TextBox 25"/>
          <p:cNvSpPr txBox="1"/>
          <p:nvPr/>
        </p:nvSpPr>
        <p:spPr>
          <a:xfrm>
            <a:off x="6887963" y="8566850"/>
            <a:ext cx="1498125" cy="2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9" b="1" i="0" u="none" strike="noStrike" kern="1200" cap="none" spc="0" normalizeH="0" baseline="0" noProof="0">
                <a:ln>
                  <a:noFill/>
                </a:ln>
                <a:solidFill>
                  <a:srgbClr val="393939"/>
                </a:solidFill>
                <a:effectLst/>
                <a:uLnTx/>
                <a:uFillTx/>
                <a:latin typeface="Aileron Ultra-Bold"/>
                <a:ea typeface="Aileron Ultra-Bold"/>
                <a:cs typeface="Aileron Ultra-Bold"/>
                <a:sym typeface="Aileron Ultra-Bold"/>
              </a:rPr>
              <a:t>Registra boleta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23315" y="9500633"/>
            <a:ext cx="3517043" cy="284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39" b="1" i="0" u="none" strike="noStrike" kern="1200" cap="none" spc="0" normalizeH="0" baseline="0" noProof="0">
                <a:ln>
                  <a:noFill/>
                </a:ln>
                <a:solidFill>
                  <a:srgbClr val="1B2D36"/>
                </a:solidFill>
                <a:effectLst/>
                <a:uLnTx/>
                <a:uFillTx/>
                <a:latin typeface="Aileron Ultra-Bold"/>
                <a:ea typeface="Aileron Ultra-Bold"/>
                <a:cs typeface="Aileron Ultra-Bold"/>
                <a:sym typeface="Aileron Ultra-Bold"/>
              </a:rPr>
              <a:t>Actores: </a:t>
            </a:r>
            <a:r>
              <a:rPr kumimoji="0" lang="en-US" sz="2039" b="0" i="0" u="none" strike="noStrike" kern="1200" cap="none" spc="0" normalizeH="0" baseline="0" noProof="0">
                <a:ln>
                  <a:noFill/>
                </a:ln>
                <a:solidFill>
                  <a:srgbClr val="1B2D36"/>
                </a:solidFill>
                <a:effectLst/>
                <a:uLnTx/>
                <a:uFillTx/>
                <a:latin typeface="Aileron"/>
                <a:ea typeface="Aileron"/>
                <a:cs typeface="Aileron"/>
                <a:sym typeface="Aileron"/>
              </a:rPr>
              <a:t>Cliente y Veterinaria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33183" y="2723243"/>
            <a:ext cx="3707638" cy="2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9" b="1" i="0" u="none" strike="noStrike" kern="1200" cap="none" spc="0" normalizeH="0" baseline="0" noProof="0">
                <a:ln>
                  <a:noFill/>
                </a:ln>
                <a:solidFill>
                  <a:srgbClr val="393939"/>
                </a:solidFill>
                <a:effectLst/>
                <a:uLnTx/>
                <a:uFillTx/>
                <a:latin typeface="Aileron Ultra-Bold"/>
                <a:ea typeface="Aileron Ultra-Bold"/>
                <a:cs typeface="Aileron Ultra-Bold"/>
                <a:sym typeface="Aileron Ultra-Bold"/>
              </a:rPr>
              <a:t>Acepta términos y condiciones de uso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10747" y="7166191"/>
            <a:ext cx="2952511" cy="2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9" b="1" i="0" u="none" strike="noStrike" kern="1200" cap="none" spc="0" normalizeH="0" baseline="0" noProof="0">
                <a:ln>
                  <a:noFill/>
                </a:ln>
                <a:solidFill>
                  <a:srgbClr val="393939"/>
                </a:solidFill>
                <a:effectLst/>
                <a:uLnTx/>
                <a:uFillTx/>
                <a:latin typeface="Aileron Ultra-Bold"/>
                <a:ea typeface="Aileron Ultra-Bold"/>
                <a:cs typeface="Aileron Ultra-Bold"/>
                <a:sym typeface="Aileron Ultra-Bold"/>
              </a:rPr>
              <a:t>Registra información mascota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82039" y="5027552"/>
            <a:ext cx="2701398" cy="2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9" b="1" i="0" u="none" strike="noStrike" kern="1200" cap="none" spc="0" normalizeH="0" baseline="0" noProof="0">
                <a:ln>
                  <a:noFill/>
                </a:ln>
                <a:solidFill>
                  <a:srgbClr val="393939"/>
                </a:solidFill>
                <a:effectLst/>
                <a:uLnTx/>
                <a:uFillTx/>
                <a:latin typeface="Aileron Ultra-Bold"/>
                <a:ea typeface="Aileron Ultra-Bold"/>
                <a:cs typeface="Aileron Ultra-Bold"/>
                <a:sym typeface="Aileron Ultra-Bold"/>
              </a:rPr>
              <a:t>Ingresa información cliente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96111" y="3822685"/>
            <a:ext cx="1445239" cy="2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9" b="1" i="0" u="none" strike="noStrike" kern="1200" cap="none" spc="0" normalizeH="0" baseline="0" noProof="0">
                <a:ln>
                  <a:noFill/>
                </a:ln>
                <a:solidFill>
                  <a:srgbClr val="393939"/>
                </a:solidFill>
                <a:effectLst/>
                <a:uLnTx/>
                <a:uFillTx/>
                <a:latin typeface="Aileron Ultra-Bold"/>
                <a:ea typeface="Aileron Ultra-Bold"/>
                <a:cs typeface="Aileron Ultra-Bold"/>
                <a:sym typeface="Aileron Ultra-Bold"/>
              </a:rPr>
              <a:t>Envía solicitud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60068" y="7904173"/>
            <a:ext cx="1176033" cy="2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9" b="1" i="0" u="none" strike="noStrike" kern="1200" cap="none" spc="0" normalizeH="0" baseline="0" noProof="0">
                <a:ln>
                  <a:noFill/>
                </a:ln>
                <a:solidFill>
                  <a:srgbClr val="393939"/>
                </a:solidFill>
                <a:effectLst/>
                <a:uLnTx/>
                <a:uFillTx/>
                <a:latin typeface="Aileron Ultra-Bold"/>
                <a:ea typeface="Aileron Ultra-Bold"/>
                <a:cs typeface="Aileron Ultra-Bold"/>
                <a:sym typeface="Aileron Ultra-Bold"/>
              </a:rPr>
              <a:t>Agenda cita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77580" y="7663199"/>
            <a:ext cx="1109030" cy="2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9" b="1" i="0" u="none" strike="noStrike" kern="1200" cap="none" spc="0" normalizeH="0" baseline="0" noProof="0">
                <a:ln>
                  <a:noFill/>
                </a:ln>
                <a:solidFill>
                  <a:srgbClr val="393939"/>
                </a:solidFill>
                <a:effectLst/>
                <a:uLnTx/>
                <a:uFillTx/>
                <a:latin typeface="Aileron Ultra-Bold"/>
                <a:ea typeface="Aileron Ultra-Bold"/>
                <a:cs typeface="Aileron Ultra-Bold"/>
                <a:sym typeface="Aileron Ultra-Bold"/>
              </a:rPr>
              <a:t>Veterinaria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76899" y="3913050"/>
            <a:ext cx="710392" cy="2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9" b="1" i="0" u="none" strike="noStrike" kern="1200" cap="none" spc="0" normalizeH="0" baseline="0" noProof="0">
                <a:ln>
                  <a:noFill/>
                </a:ln>
                <a:solidFill>
                  <a:srgbClr val="393939"/>
                </a:solidFill>
                <a:effectLst/>
                <a:uLnTx/>
                <a:uFillTx/>
                <a:latin typeface="Aileron Ultra-Bold"/>
                <a:ea typeface="Aileron Ultra-Bold"/>
                <a:cs typeface="Aileron Ultra-Bold"/>
                <a:sym typeface="Aileron Ultra-Bold"/>
              </a:rPr>
              <a:t>Cliente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800100"/>
            <a:ext cx="14287500" cy="57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46"/>
              </a:lnSpc>
              <a:spcBef>
                <a:spcPct val="0"/>
              </a:spcBef>
            </a:pPr>
            <a:r>
              <a:rPr lang="en-US" sz="4575" b="1" u="none" strike="noStrike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Monitoreo y actividades iniciales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562100"/>
            <a:ext cx="1000125" cy="76200"/>
            <a:chOff x="0" y="0"/>
            <a:chExt cx="1333500" cy="101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3500" cy="101600"/>
            </a:xfrm>
            <a:custGeom>
              <a:avLst/>
              <a:gdLst/>
              <a:ahLst/>
              <a:cxnLst/>
              <a:rect l="l" t="t" r="r" b="b"/>
              <a:pathLst>
                <a:path w="1333500" h="101600">
                  <a:moveTo>
                    <a:pt x="0" y="0"/>
                  </a:moveTo>
                  <a:lnTo>
                    <a:pt x="1333500" y="0"/>
                  </a:lnTo>
                  <a:lnTo>
                    <a:pt x="1333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F7A4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335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19250" y="4000500"/>
            <a:ext cx="2095500" cy="1381125"/>
            <a:chOff x="0" y="0"/>
            <a:chExt cx="2794000" cy="1841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4000" cy="1841500"/>
            </a:xfrm>
            <a:custGeom>
              <a:avLst/>
              <a:gdLst/>
              <a:ahLst/>
              <a:cxnLst/>
              <a:rect l="l" t="t" r="r" b="b"/>
              <a:pathLst>
                <a:path w="2794000" h="1841500">
                  <a:moveTo>
                    <a:pt x="103909" y="0"/>
                  </a:moveTo>
                  <a:lnTo>
                    <a:pt x="2690091" y="0"/>
                  </a:lnTo>
                  <a:cubicBezTo>
                    <a:pt x="2717649" y="0"/>
                    <a:pt x="2744079" y="10948"/>
                    <a:pt x="2763566" y="30434"/>
                  </a:cubicBezTo>
                  <a:cubicBezTo>
                    <a:pt x="2783052" y="49921"/>
                    <a:pt x="2794000" y="76351"/>
                    <a:pt x="2794000" y="103909"/>
                  </a:cubicBezTo>
                  <a:lnTo>
                    <a:pt x="2794000" y="1737591"/>
                  </a:lnTo>
                  <a:cubicBezTo>
                    <a:pt x="2794000" y="1765149"/>
                    <a:pt x="2783052" y="1791579"/>
                    <a:pt x="2763566" y="1811066"/>
                  </a:cubicBezTo>
                  <a:cubicBezTo>
                    <a:pt x="2744079" y="1830552"/>
                    <a:pt x="2717649" y="1841500"/>
                    <a:pt x="2690091" y="1841500"/>
                  </a:cubicBezTo>
                  <a:lnTo>
                    <a:pt x="103909" y="1841500"/>
                  </a:lnTo>
                  <a:cubicBezTo>
                    <a:pt x="76351" y="1841500"/>
                    <a:pt x="49921" y="1830552"/>
                    <a:pt x="30434" y="1811066"/>
                  </a:cubicBezTo>
                  <a:cubicBezTo>
                    <a:pt x="10948" y="1791579"/>
                    <a:pt x="0" y="1765149"/>
                    <a:pt x="0" y="1737591"/>
                  </a:cubicBezTo>
                  <a:lnTo>
                    <a:pt x="0" y="103909"/>
                  </a:lnTo>
                  <a:cubicBezTo>
                    <a:pt x="0" y="76351"/>
                    <a:pt x="10948" y="49921"/>
                    <a:pt x="30434" y="30434"/>
                  </a:cubicBezTo>
                  <a:cubicBezTo>
                    <a:pt x="49921" y="10948"/>
                    <a:pt x="76351" y="0"/>
                    <a:pt x="103909" y="0"/>
                  </a:cubicBezTo>
                  <a:close/>
                </a:path>
              </a:pathLst>
            </a:custGeom>
            <a:solidFill>
              <a:srgbClr val="14262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4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172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Actividad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3714750" y="4686300"/>
            <a:ext cx="95250" cy="0"/>
          </a:xfrm>
          <a:prstGeom prst="line">
            <a:avLst/>
          </a:prstGeom>
          <a:ln w="47625" cap="rnd">
            <a:solidFill>
              <a:srgbClr val="26B6A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0" name="Group 10"/>
          <p:cNvGrpSpPr/>
          <p:nvPr/>
        </p:nvGrpSpPr>
        <p:grpSpPr>
          <a:xfrm>
            <a:off x="3810000" y="4000500"/>
            <a:ext cx="2095500" cy="1381125"/>
            <a:chOff x="0" y="0"/>
            <a:chExt cx="2794000" cy="1841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94000" cy="1841500"/>
            </a:xfrm>
            <a:custGeom>
              <a:avLst/>
              <a:gdLst/>
              <a:ahLst/>
              <a:cxnLst/>
              <a:rect l="l" t="t" r="r" b="b"/>
              <a:pathLst>
                <a:path w="2794000" h="1841500">
                  <a:moveTo>
                    <a:pt x="103909" y="0"/>
                  </a:moveTo>
                  <a:lnTo>
                    <a:pt x="2690091" y="0"/>
                  </a:lnTo>
                  <a:cubicBezTo>
                    <a:pt x="2717649" y="0"/>
                    <a:pt x="2744079" y="10948"/>
                    <a:pt x="2763566" y="30434"/>
                  </a:cubicBezTo>
                  <a:cubicBezTo>
                    <a:pt x="2783052" y="49921"/>
                    <a:pt x="2794000" y="76351"/>
                    <a:pt x="2794000" y="103909"/>
                  </a:cubicBezTo>
                  <a:lnTo>
                    <a:pt x="2794000" y="1737591"/>
                  </a:lnTo>
                  <a:cubicBezTo>
                    <a:pt x="2794000" y="1765149"/>
                    <a:pt x="2783052" y="1791579"/>
                    <a:pt x="2763566" y="1811066"/>
                  </a:cubicBezTo>
                  <a:cubicBezTo>
                    <a:pt x="2744079" y="1830552"/>
                    <a:pt x="2717649" y="1841500"/>
                    <a:pt x="2690091" y="1841500"/>
                  </a:cubicBezTo>
                  <a:lnTo>
                    <a:pt x="103909" y="1841500"/>
                  </a:lnTo>
                  <a:cubicBezTo>
                    <a:pt x="76351" y="1841500"/>
                    <a:pt x="49921" y="1830552"/>
                    <a:pt x="30434" y="1811066"/>
                  </a:cubicBezTo>
                  <a:cubicBezTo>
                    <a:pt x="10948" y="1791579"/>
                    <a:pt x="0" y="1765149"/>
                    <a:pt x="0" y="1737591"/>
                  </a:cubicBezTo>
                  <a:lnTo>
                    <a:pt x="0" y="103909"/>
                  </a:lnTo>
                  <a:cubicBezTo>
                    <a:pt x="0" y="76351"/>
                    <a:pt x="10948" y="49921"/>
                    <a:pt x="30434" y="30434"/>
                  </a:cubicBezTo>
                  <a:cubicBezTo>
                    <a:pt x="49921" y="10948"/>
                    <a:pt x="76351" y="0"/>
                    <a:pt x="103909" y="0"/>
                  </a:cubicBezTo>
                  <a:close/>
                </a:path>
              </a:pathLst>
            </a:custGeom>
            <a:solidFill>
              <a:srgbClr val="14262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794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172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Recursos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5905500" y="4686300"/>
            <a:ext cx="95250" cy="0"/>
          </a:xfrm>
          <a:prstGeom prst="line">
            <a:avLst/>
          </a:prstGeom>
          <a:ln w="47625" cap="rnd">
            <a:solidFill>
              <a:srgbClr val="26B6A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4" name="Group 14"/>
          <p:cNvGrpSpPr/>
          <p:nvPr/>
        </p:nvGrpSpPr>
        <p:grpSpPr>
          <a:xfrm>
            <a:off x="6000750" y="4000500"/>
            <a:ext cx="2095500" cy="1381125"/>
            <a:chOff x="0" y="0"/>
            <a:chExt cx="2794000" cy="1841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94000" cy="1841500"/>
            </a:xfrm>
            <a:custGeom>
              <a:avLst/>
              <a:gdLst/>
              <a:ahLst/>
              <a:cxnLst/>
              <a:rect l="l" t="t" r="r" b="b"/>
              <a:pathLst>
                <a:path w="2794000" h="1841500">
                  <a:moveTo>
                    <a:pt x="103909" y="0"/>
                  </a:moveTo>
                  <a:lnTo>
                    <a:pt x="2690091" y="0"/>
                  </a:lnTo>
                  <a:cubicBezTo>
                    <a:pt x="2717649" y="0"/>
                    <a:pt x="2744079" y="10948"/>
                    <a:pt x="2763566" y="30434"/>
                  </a:cubicBezTo>
                  <a:cubicBezTo>
                    <a:pt x="2783052" y="49921"/>
                    <a:pt x="2794000" y="76351"/>
                    <a:pt x="2794000" y="103909"/>
                  </a:cubicBezTo>
                  <a:lnTo>
                    <a:pt x="2794000" y="1737591"/>
                  </a:lnTo>
                  <a:cubicBezTo>
                    <a:pt x="2794000" y="1765149"/>
                    <a:pt x="2783052" y="1791579"/>
                    <a:pt x="2763566" y="1811066"/>
                  </a:cubicBezTo>
                  <a:cubicBezTo>
                    <a:pt x="2744079" y="1830552"/>
                    <a:pt x="2717649" y="1841500"/>
                    <a:pt x="2690091" y="1841500"/>
                  </a:cubicBezTo>
                  <a:lnTo>
                    <a:pt x="103909" y="1841500"/>
                  </a:lnTo>
                  <a:cubicBezTo>
                    <a:pt x="76351" y="1841500"/>
                    <a:pt x="49921" y="1830552"/>
                    <a:pt x="30434" y="1811066"/>
                  </a:cubicBezTo>
                  <a:cubicBezTo>
                    <a:pt x="10948" y="1791579"/>
                    <a:pt x="0" y="1765149"/>
                    <a:pt x="0" y="1737591"/>
                  </a:cubicBezTo>
                  <a:lnTo>
                    <a:pt x="0" y="103909"/>
                  </a:lnTo>
                  <a:cubicBezTo>
                    <a:pt x="0" y="76351"/>
                    <a:pt x="10948" y="49921"/>
                    <a:pt x="30434" y="30434"/>
                  </a:cubicBezTo>
                  <a:cubicBezTo>
                    <a:pt x="49921" y="10948"/>
                    <a:pt x="76351" y="0"/>
                    <a:pt x="103909" y="0"/>
                  </a:cubicBezTo>
                  <a:close/>
                </a:path>
              </a:pathLst>
            </a:custGeom>
            <a:solidFill>
              <a:srgbClr val="14262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794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172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Duración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8096250" y="4686300"/>
            <a:ext cx="95250" cy="0"/>
          </a:xfrm>
          <a:prstGeom prst="line">
            <a:avLst/>
          </a:prstGeom>
          <a:ln w="47625" cap="rnd">
            <a:solidFill>
              <a:srgbClr val="26B6A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8" name="Group 18"/>
          <p:cNvGrpSpPr/>
          <p:nvPr/>
        </p:nvGrpSpPr>
        <p:grpSpPr>
          <a:xfrm>
            <a:off x="8191500" y="4000500"/>
            <a:ext cx="2095500" cy="1381125"/>
            <a:chOff x="0" y="0"/>
            <a:chExt cx="2794000" cy="1841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94000" cy="1841500"/>
            </a:xfrm>
            <a:custGeom>
              <a:avLst/>
              <a:gdLst/>
              <a:ahLst/>
              <a:cxnLst/>
              <a:rect l="l" t="t" r="r" b="b"/>
              <a:pathLst>
                <a:path w="2794000" h="1841500">
                  <a:moveTo>
                    <a:pt x="103909" y="0"/>
                  </a:moveTo>
                  <a:lnTo>
                    <a:pt x="2690091" y="0"/>
                  </a:lnTo>
                  <a:cubicBezTo>
                    <a:pt x="2717649" y="0"/>
                    <a:pt x="2744079" y="10948"/>
                    <a:pt x="2763566" y="30434"/>
                  </a:cubicBezTo>
                  <a:cubicBezTo>
                    <a:pt x="2783052" y="49921"/>
                    <a:pt x="2794000" y="76351"/>
                    <a:pt x="2794000" y="103909"/>
                  </a:cubicBezTo>
                  <a:lnTo>
                    <a:pt x="2794000" y="1737591"/>
                  </a:lnTo>
                  <a:cubicBezTo>
                    <a:pt x="2794000" y="1765149"/>
                    <a:pt x="2783052" y="1791579"/>
                    <a:pt x="2763566" y="1811066"/>
                  </a:cubicBezTo>
                  <a:cubicBezTo>
                    <a:pt x="2744079" y="1830552"/>
                    <a:pt x="2717649" y="1841500"/>
                    <a:pt x="2690091" y="1841500"/>
                  </a:cubicBezTo>
                  <a:lnTo>
                    <a:pt x="103909" y="1841500"/>
                  </a:lnTo>
                  <a:cubicBezTo>
                    <a:pt x="76351" y="1841500"/>
                    <a:pt x="49921" y="1830552"/>
                    <a:pt x="30434" y="1811066"/>
                  </a:cubicBezTo>
                  <a:cubicBezTo>
                    <a:pt x="10948" y="1791579"/>
                    <a:pt x="0" y="1765149"/>
                    <a:pt x="0" y="1737591"/>
                  </a:cubicBezTo>
                  <a:lnTo>
                    <a:pt x="0" y="103909"/>
                  </a:lnTo>
                  <a:cubicBezTo>
                    <a:pt x="0" y="76351"/>
                    <a:pt x="10948" y="49921"/>
                    <a:pt x="30434" y="30434"/>
                  </a:cubicBezTo>
                  <a:cubicBezTo>
                    <a:pt x="49921" y="10948"/>
                    <a:pt x="76351" y="0"/>
                    <a:pt x="103909" y="0"/>
                  </a:cubicBezTo>
                  <a:close/>
                </a:path>
              </a:pathLst>
            </a:custGeom>
            <a:solidFill>
              <a:srgbClr val="14262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794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172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Responsables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0287000" y="4686300"/>
            <a:ext cx="95250" cy="0"/>
          </a:xfrm>
          <a:prstGeom prst="line">
            <a:avLst/>
          </a:prstGeom>
          <a:ln w="47625" cap="rnd">
            <a:solidFill>
              <a:srgbClr val="26B6A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22" name="Group 22"/>
          <p:cNvGrpSpPr/>
          <p:nvPr/>
        </p:nvGrpSpPr>
        <p:grpSpPr>
          <a:xfrm>
            <a:off x="10382250" y="4000500"/>
            <a:ext cx="2095500" cy="1381125"/>
            <a:chOff x="0" y="0"/>
            <a:chExt cx="2794000" cy="1841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794000" cy="1841500"/>
            </a:xfrm>
            <a:custGeom>
              <a:avLst/>
              <a:gdLst/>
              <a:ahLst/>
              <a:cxnLst/>
              <a:rect l="l" t="t" r="r" b="b"/>
              <a:pathLst>
                <a:path w="2794000" h="1841500">
                  <a:moveTo>
                    <a:pt x="103909" y="0"/>
                  </a:moveTo>
                  <a:lnTo>
                    <a:pt x="2690091" y="0"/>
                  </a:lnTo>
                  <a:cubicBezTo>
                    <a:pt x="2717649" y="0"/>
                    <a:pt x="2744079" y="10948"/>
                    <a:pt x="2763566" y="30434"/>
                  </a:cubicBezTo>
                  <a:cubicBezTo>
                    <a:pt x="2783052" y="49921"/>
                    <a:pt x="2794000" y="76351"/>
                    <a:pt x="2794000" y="103909"/>
                  </a:cubicBezTo>
                  <a:lnTo>
                    <a:pt x="2794000" y="1737591"/>
                  </a:lnTo>
                  <a:cubicBezTo>
                    <a:pt x="2794000" y="1765149"/>
                    <a:pt x="2783052" y="1791579"/>
                    <a:pt x="2763566" y="1811066"/>
                  </a:cubicBezTo>
                  <a:cubicBezTo>
                    <a:pt x="2744079" y="1830552"/>
                    <a:pt x="2717649" y="1841500"/>
                    <a:pt x="2690091" y="1841500"/>
                  </a:cubicBezTo>
                  <a:lnTo>
                    <a:pt x="103909" y="1841500"/>
                  </a:lnTo>
                  <a:cubicBezTo>
                    <a:pt x="76351" y="1841500"/>
                    <a:pt x="49921" y="1830552"/>
                    <a:pt x="30434" y="1811066"/>
                  </a:cubicBezTo>
                  <a:cubicBezTo>
                    <a:pt x="10948" y="1791579"/>
                    <a:pt x="0" y="1765149"/>
                    <a:pt x="0" y="1737591"/>
                  </a:cubicBezTo>
                  <a:lnTo>
                    <a:pt x="0" y="103909"/>
                  </a:lnTo>
                  <a:cubicBezTo>
                    <a:pt x="0" y="76351"/>
                    <a:pt x="10948" y="49921"/>
                    <a:pt x="30434" y="30434"/>
                  </a:cubicBezTo>
                  <a:cubicBezTo>
                    <a:pt x="49921" y="10948"/>
                    <a:pt x="76351" y="0"/>
                    <a:pt x="103909" y="0"/>
                  </a:cubicBezTo>
                  <a:close/>
                </a:path>
              </a:pathLst>
            </a:custGeom>
            <a:solidFill>
              <a:srgbClr val="14262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794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172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Observaciones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12477750" y="4686300"/>
            <a:ext cx="95250" cy="0"/>
          </a:xfrm>
          <a:prstGeom prst="line">
            <a:avLst/>
          </a:prstGeom>
          <a:ln w="47625" cap="rnd">
            <a:solidFill>
              <a:srgbClr val="26B6A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26" name="Group 26"/>
          <p:cNvGrpSpPr/>
          <p:nvPr/>
        </p:nvGrpSpPr>
        <p:grpSpPr>
          <a:xfrm>
            <a:off x="12573000" y="4000500"/>
            <a:ext cx="2095500" cy="1381125"/>
            <a:chOff x="0" y="0"/>
            <a:chExt cx="2794000" cy="18415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794000" cy="1841500"/>
            </a:xfrm>
            <a:custGeom>
              <a:avLst/>
              <a:gdLst/>
              <a:ahLst/>
              <a:cxnLst/>
              <a:rect l="l" t="t" r="r" b="b"/>
              <a:pathLst>
                <a:path w="2794000" h="1841500">
                  <a:moveTo>
                    <a:pt x="103909" y="0"/>
                  </a:moveTo>
                  <a:lnTo>
                    <a:pt x="2690091" y="0"/>
                  </a:lnTo>
                  <a:cubicBezTo>
                    <a:pt x="2717649" y="0"/>
                    <a:pt x="2744079" y="10948"/>
                    <a:pt x="2763566" y="30434"/>
                  </a:cubicBezTo>
                  <a:cubicBezTo>
                    <a:pt x="2783052" y="49921"/>
                    <a:pt x="2794000" y="76351"/>
                    <a:pt x="2794000" y="103909"/>
                  </a:cubicBezTo>
                  <a:lnTo>
                    <a:pt x="2794000" y="1737591"/>
                  </a:lnTo>
                  <a:cubicBezTo>
                    <a:pt x="2794000" y="1765149"/>
                    <a:pt x="2783052" y="1791579"/>
                    <a:pt x="2763566" y="1811066"/>
                  </a:cubicBezTo>
                  <a:cubicBezTo>
                    <a:pt x="2744079" y="1830552"/>
                    <a:pt x="2717649" y="1841500"/>
                    <a:pt x="2690091" y="1841500"/>
                  </a:cubicBezTo>
                  <a:lnTo>
                    <a:pt x="103909" y="1841500"/>
                  </a:lnTo>
                  <a:cubicBezTo>
                    <a:pt x="76351" y="1841500"/>
                    <a:pt x="49921" y="1830552"/>
                    <a:pt x="30434" y="1811066"/>
                  </a:cubicBezTo>
                  <a:cubicBezTo>
                    <a:pt x="10948" y="1791579"/>
                    <a:pt x="0" y="1765149"/>
                    <a:pt x="0" y="1737591"/>
                  </a:cubicBezTo>
                  <a:lnTo>
                    <a:pt x="0" y="103909"/>
                  </a:lnTo>
                  <a:cubicBezTo>
                    <a:pt x="0" y="76351"/>
                    <a:pt x="10948" y="49921"/>
                    <a:pt x="30434" y="30434"/>
                  </a:cubicBezTo>
                  <a:cubicBezTo>
                    <a:pt x="49921" y="10948"/>
                    <a:pt x="76351" y="0"/>
                    <a:pt x="103909" y="0"/>
                  </a:cubicBezTo>
                  <a:close/>
                </a:path>
              </a:pathLst>
            </a:custGeom>
            <a:solidFill>
              <a:srgbClr val="FF7A4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794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172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Estado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>
            <a:off x="14668500" y="4686300"/>
            <a:ext cx="95250" cy="0"/>
          </a:xfrm>
          <a:prstGeom prst="line">
            <a:avLst/>
          </a:prstGeom>
          <a:ln w="47625" cap="rnd">
            <a:solidFill>
              <a:srgbClr val="26B6A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30" name="Group 30"/>
          <p:cNvGrpSpPr/>
          <p:nvPr/>
        </p:nvGrpSpPr>
        <p:grpSpPr>
          <a:xfrm>
            <a:off x="14763750" y="4000500"/>
            <a:ext cx="2095500" cy="1381125"/>
            <a:chOff x="0" y="0"/>
            <a:chExt cx="2794000" cy="18415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794000" cy="1841500"/>
            </a:xfrm>
            <a:custGeom>
              <a:avLst/>
              <a:gdLst/>
              <a:ahLst/>
              <a:cxnLst/>
              <a:rect l="l" t="t" r="r" b="b"/>
              <a:pathLst>
                <a:path w="2794000" h="1841500">
                  <a:moveTo>
                    <a:pt x="103909" y="0"/>
                  </a:moveTo>
                  <a:lnTo>
                    <a:pt x="2690091" y="0"/>
                  </a:lnTo>
                  <a:cubicBezTo>
                    <a:pt x="2717649" y="0"/>
                    <a:pt x="2744079" y="10948"/>
                    <a:pt x="2763566" y="30434"/>
                  </a:cubicBezTo>
                  <a:cubicBezTo>
                    <a:pt x="2783052" y="49921"/>
                    <a:pt x="2794000" y="76351"/>
                    <a:pt x="2794000" y="103909"/>
                  </a:cubicBezTo>
                  <a:lnTo>
                    <a:pt x="2794000" y="1737591"/>
                  </a:lnTo>
                  <a:cubicBezTo>
                    <a:pt x="2794000" y="1765149"/>
                    <a:pt x="2783052" y="1791579"/>
                    <a:pt x="2763566" y="1811066"/>
                  </a:cubicBezTo>
                  <a:cubicBezTo>
                    <a:pt x="2744079" y="1830552"/>
                    <a:pt x="2717649" y="1841500"/>
                    <a:pt x="2690091" y="1841500"/>
                  </a:cubicBezTo>
                  <a:lnTo>
                    <a:pt x="103909" y="1841500"/>
                  </a:lnTo>
                  <a:cubicBezTo>
                    <a:pt x="76351" y="1841500"/>
                    <a:pt x="49921" y="1830552"/>
                    <a:pt x="30434" y="1811066"/>
                  </a:cubicBezTo>
                  <a:cubicBezTo>
                    <a:pt x="10948" y="1791579"/>
                    <a:pt x="0" y="1765149"/>
                    <a:pt x="0" y="1737591"/>
                  </a:cubicBezTo>
                  <a:lnTo>
                    <a:pt x="0" y="103909"/>
                  </a:lnTo>
                  <a:cubicBezTo>
                    <a:pt x="0" y="76351"/>
                    <a:pt x="10948" y="49921"/>
                    <a:pt x="30434" y="30434"/>
                  </a:cubicBezTo>
                  <a:cubicBezTo>
                    <a:pt x="49921" y="10948"/>
                    <a:pt x="76351" y="0"/>
                    <a:pt x="103909" y="0"/>
                  </a:cubicBezTo>
                  <a:close/>
                </a:path>
              </a:pathLst>
            </a:custGeom>
            <a:solidFill>
              <a:srgbClr val="14262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794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172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Ajustes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857500" y="6536531"/>
            <a:ext cx="125730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3000" b="1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Competencias + seguimiento detallado = decisiones oportunas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47750" y="7524750"/>
            <a:ext cx="5048250" cy="2190750"/>
            <a:chOff x="0" y="0"/>
            <a:chExt cx="6731000" cy="2921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731000" cy="2921000"/>
            </a:xfrm>
            <a:custGeom>
              <a:avLst/>
              <a:gdLst/>
              <a:ahLst/>
              <a:cxnLst/>
              <a:rect l="l" t="t" r="r" b="b"/>
              <a:pathLst>
                <a:path w="6731000" h="2921000">
                  <a:moveTo>
                    <a:pt x="127000" y="0"/>
                  </a:moveTo>
                  <a:lnTo>
                    <a:pt x="6604000" y="0"/>
                  </a:lnTo>
                  <a:cubicBezTo>
                    <a:pt x="6674140" y="0"/>
                    <a:pt x="6731000" y="56860"/>
                    <a:pt x="6731000" y="127000"/>
                  </a:cubicBezTo>
                  <a:lnTo>
                    <a:pt x="6731000" y="2794000"/>
                  </a:lnTo>
                  <a:cubicBezTo>
                    <a:pt x="6731000" y="2864140"/>
                    <a:pt x="6674140" y="2921000"/>
                    <a:pt x="6604000" y="2921000"/>
                  </a:cubicBezTo>
                  <a:lnTo>
                    <a:pt x="127000" y="2921000"/>
                  </a:lnTo>
                  <a:cubicBezTo>
                    <a:pt x="56860" y="2921000"/>
                    <a:pt x="0" y="2864140"/>
                    <a:pt x="0" y="279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6731000" cy="295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57300" y="7696200"/>
            <a:ext cx="1428750" cy="290576"/>
            <a:chOff x="0" y="0"/>
            <a:chExt cx="1905000" cy="38743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05000" cy="387435"/>
            </a:xfrm>
            <a:custGeom>
              <a:avLst/>
              <a:gdLst/>
              <a:ahLst/>
              <a:cxnLst/>
              <a:rect l="l" t="t" r="r" b="b"/>
              <a:pathLst>
                <a:path w="1905000" h="387435">
                  <a:moveTo>
                    <a:pt x="76200" y="0"/>
                  </a:moveTo>
                  <a:lnTo>
                    <a:pt x="1828800" y="0"/>
                  </a:lnTo>
                  <a:cubicBezTo>
                    <a:pt x="1870884" y="0"/>
                    <a:pt x="1905000" y="34116"/>
                    <a:pt x="1905000" y="76200"/>
                  </a:cubicBezTo>
                  <a:lnTo>
                    <a:pt x="1905000" y="311235"/>
                  </a:lnTo>
                  <a:cubicBezTo>
                    <a:pt x="1905000" y="331444"/>
                    <a:pt x="1896972" y="350826"/>
                    <a:pt x="1882682" y="365116"/>
                  </a:cubicBezTo>
                  <a:cubicBezTo>
                    <a:pt x="1868391" y="379406"/>
                    <a:pt x="1849009" y="387435"/>
                    <a:pt x="1828800" y="387435"/>
                  </a:cubicBezTo>
                  <a:lnTo>
                    <a:pt x="76200" y="387435"/>
                  </a:lnTo>
                  <a:cubicBezTo>
                    <a:pt x="34116" y="387435"/>
                    <a:pt x="0" y="353319"/>
                    <a:pt x="0" y="31123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6B6A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1905000" cy="40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r>
                <a:rPr lang="en-US" sz="999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COMPLETADO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57300" y="8105775"/>
            <a:ext cx="46291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Definición y antecedentes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57300" y="8686800"/>
            <a:ext cx="4629150" cy="56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50">
                <a:solidFill>
                  <a:srgbClr val="6879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Responsables: todo el equipo · Recursos: computadores + Word · Duración: 2 semanas · Observación: comunicación compleja y reuniones asincrónicas.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6619875" y="7524750"/>
            <a:ext cx="5048250" cy="2190750"/>
            <a:chOff x="0" y="0"/>
            <a:chExt cx="6731000" cy="2921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731000" cy="2921000"/>
            </a:xfrm>
            <a:custGeom>
              <a:avLst/>
              <a:gdLst/>
              <a:ahLst/>
              <a:cxnLst/>
              <a:rect l="l" t="t" r="r" b="b"/>
              <a:pathLst>
                <a:path w="6731000" h="2921000">
                  <a:moveTo>
                    <a:pt x="127000" y="0"/>
                  </a:moveTo>
                  <a:lnTo>
                    <a:pt x="6604000" y="0"/>
                  </a:lnTo>
                  <a:cubicBezTo>
                    <a:pt x="6674140" y="0"/>
                    <a:pt x="6731000" y="56860"/>
                    <a:pt x="6731000" y="127000"/>
                  </a:cubicBezTo>
                  <a:lnTo>
                    <a:pt x="6731000" y="2794000"/>
                  </a:lnTo>
                  <a:cubicBezTo>
                    <a:pt x="6731000" y="2864140"/>
                    <a:pt x="6674140" y="2921000"/>
                    <a:pt x="6604000" y="2921000"/>
                  </a:cubicBezTo>
                  <a:lnTo>
                    <a:pt x="127000" y="2921000"/>
                  </a:lnTo>
                  <a:cubicBezTo>
                    <a:pt x="56860" y="2921000"/>
                    <a:pt x="0" y="2864140"/>
                    <a:pt x="0" y="279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6731000" cy="295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29425" y="7696200"/>
            <a:ext cx="1428750" cy="290576"/>
            <a:chOff x="0" y="0"/>
            <a:chExt cx="1905000" cy="38743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905000" cy="387435"/>
            </a:xfrm>
            <a:custGeom>
              <a:avLst/>
              <a:gdLst/>
              <a:ahLst/>
              <a:cxnLst/>
              <a:rect l="l" t="t" r="r" b="b"/>
              <a:pathLst>
                <a:path w="1905000" h="387435">
                  <a:moveTo>
                    <a:pt x="76200" y="0"/>
                  </a:moveTo>
                  <a:lnTo>
                    <a:pt x="1828800" y="0"/>
                  </a:lnTo>
                  <a:cubicBezTo>
                    <a:pt x="1870884" y="0"/>
                    <a:pt x="1905000" y="34116"/>
                    <a:pt x="1905000" y="76200"/>
                  </a:cubicBezTo>
                  <a:lnTo>
                    <a:pt x="1905000" y="311235"/>
                  </a:lnTo>
                  <a:cubicBezTo>
                    <a:pt x="1905000" y="331444"/>
                    <a:pt x="1896972" y="350826"/>
                    <a:pt x="1882682" y="365116"/>
                  </a:cubicBezTo>
                  <a:cubicBezTo>
                    <a:pt x="1868391" y="379406"/>
                    <a:pt x="1849009" y="387435"/>
                    <a:pt x="1828800" y="387435"/>
                  </a:cubicBezTo>
                  <a:lnTo>
                    <a:pt x="76200" y="387435"/>
                  </a:lnTo>
                  <a:cubicBezTo>
                    <a:pt x="34116" y="387435"/>
                    <a:pt x="0" y="353319"/>
                    <a:pt x="0" y="31123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6B6A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1905000" cy="40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r>
                <a:rPr lang="en-US" sz="999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COMPLETADO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6829425" y="8105775"/>
            <a:ext cx="46291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Levantamiento con veterinaria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829425" y="8686800"/>
            <a:ext cx="4629150" cy="56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50">
                <a:solidFill>
                  <a:srgbClr val="6879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Responsable: Brian Martel · Recursos: WhatsApp + Internet · Observación: contacto difícil, resuelto de forma asincrónica.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2192000" y="7524750"/>
            <a:ext cx="5048250" cy="2190750"/>
            <a:chOff x="0" y="0"/>
            <a:chExt cx="6731000" cy="29210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731000" cy="2921000"/>
            </a:xfrm>
            <a:custGeom>
              <a:avLst/>
              <a:gdLst/>
              <a:ahLst/>
              <a:cxnLst/>
              <a:rect l="l" t="t" r="r" b="b"/>
              <a:pathLst>
                <a:path w="6731000" h="2921000">
                  <a:moveTo>
                    <a:pt x="127000" y="0"/>
                  </a:moveTo>
                  <a:lnTo>
                    <a:pt x="6604000" y="0"/>
                  </a:lnTo>
                  <a:cubicBezTo>
                    <a:pt x="6674140" y="0"/>
                    <a:pt x="6731000" y="56860"/>
                    <a:pt x="6731000" y="127000"/>
                  </a:cubicBezTo>
                  <a:lnTo>
                    <a:pt x="6731000" y="2794000"/>
                  </a:lnTo>
                  <a:cubicBezTo>
                    <a:pt x="6731000" y="2864140"/>
                    <a:pt x="6674140" y="2921000"/>
                    <a:pt x="6604000" y="2921000"/>
                  </a:cubicBezTo>
                  <a:lnTo>
                    <a:pt x="127000" y="2921000"/>
                  </a:lnTo>
                  <a:cubicBezTo>
                    <a:pt x="56860" y="2921000"/>
                    <a:pt x="0" y="2864140"/>
                    <a:pt x="0" y="279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6731000" cy="295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401550" y="7696200"/>
            <a:ext cx="1428750" cy="290576"/>
            <a:chOff x="0" y="0"/>
            <a:chExt cx="1905000" cy="38743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905000" cy="387435"/>
            </a:xfrm>
            <a:custGeom>
              <a:avLst/>
              <a:gdLst/>
              <a:ahLst/>
              <a:cxnLst/>
              <a:rect l="l" t="t" r="r" b="b"/>
              <a:pathLst>
                <a:path w="1905000" h="387435">
                  <a:moveTo>
                    <a:pt x="76200" y="0"/>
                  </a:moveTo>
                  <a:lnTo>
                    <a:pt x="1828800" y="0"/>
                  </a:lnTo>
                  <a:cubicBezTo>
                    <a:pt x="1870884" y="0"/>
                    <a:pt x="1905000" y="34116"/>
                    <a:pt x="1905000" y="76200"/>
                  </a:cubicBezTo>
                  <a:lnTo>
                    <a:pt x="1905000" y="311235"/>
                  </a:lnTo>
                  <a:cubicBezTo>
                    <a:pt x="1905000" y="331444"/>
                    <a:pt x="1896972" y="350826"/>
                    <a:pt x="1882682" y="365116"/>
                  </a:cubicBezTo>
                  <a:cubicBezTo>
                    <a:pt x="1868391" y="379406"/>
                    <a:pt x="1849009" y="387435"/>
                    <a:pt x="1828800" y="387435"/>
                  </a:cubicBezTo>
                  <a:lnTo>
                    <a:pt x="76200" y="387435"/>
                  </a:lnTo>
                  <a:cubicBezTo>
                    <a:pt x="34116" y="387435"/>
                    <a:pt x="0" y="353319"/>
                    <a:pt x="0" y="31123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6B6A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1905000" cy="40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r>
                <a:rPr lang="en-US" sz="999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COMPLETADO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2401550" y="8105775"/>
            <a:ext cx="46291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Plan de trabajo y carta Gantt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401550" y="8686800"/>
            <a:ext cx="4629150" cy="56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50">
                <a:solidFill>
                  <a:srgbClr val="6879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Responsables: todo el equipo · Recursos: computadores + Excel · Observación: múltiples canales y problemas de coordinación.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800100"/>
            <a:ext cx="1428750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45"/>
              </a:lnSpc>
              <a:spcBef>
                <a:spcPct val="0"/>
              </a:spcBef>
            </a:pPr>
            <a:r>
              <a:rPr lang="en-US" sz="5100" b="1" u="none" strike="noStrike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Diseño, configuración y módulos iniciales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562100"/>
            <a:ext cx="1000125" cy="76200"/>
            <a:chOff x="0" y="0"/>
            <a:chExt cx="1333500" cy="101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3500" cy="101600"/>
            </a:xfrm>
            <a:custGeom>
              <a:avLst/>
              <a:gdLst/>
              <a:ahLst/>
              <a:cxnLst/>
              <a:rect l="l" t="t" r="r" b="b"/>
              <a:pathLst>
                <a:path w="1333500" h="101600">
                  <a:moveTo>
                    <a:pt x="0" y="0"/>
                  </a:moveTo>
                  <a:lnTo>
                    <a:pt x="1333500" y="0"/>
                  </a:lnTo>
                  <a:lnTo>
                    <a:pt x="1333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F7A4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335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2333625"/>
            <a:ext cx="5219700" cy="4953000"/>
            <a:chOff x="0" y="0"/>
            <a:chExt cx="6959600" cy="6604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959600" cy="6604000"/>
              <a:chOff x="0" y="0"/>
              <a:chExt cx="6959600" cy="6604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9596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6959600" h="6604000">
                    <a:moveTo>
                      <a:pt x="0" y="0"/>
                    </a:moveTo>
                    <a:lnTo>
                      <a:pt x="6959600" y="0"/>
                    </a:lnTo>
                    <a:lnTo>
                      <a:pt x="69596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9596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06400" y="304800"/>
              <a:ext cx="2413000" cy="482600"/>
              <a:chOff x="0" y="0"/>
              <a:chExt cx="2413000" cy="482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413000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4826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362284"/>
                    </a:lnTo>
                    <a:cubicBezTo>
                      <a:pt x="2413000" y="394194"/>
                      <a:pt x="2400324" y="424797"/>
                      <a:pt x="2377760" y="447360"/>
                    </a:cubicBezTo>
                    <a:cubicBezTo>
                      <a:pt x="2355197" y="469924"/>
                      <a:pt x="2324594" y="482600"/>
                      <a:pt x="2292684" y="482600"/>
                    </a:cubicBezTo>
                    <a:lnTo>
                      <a:pt x="120316" y="482600"/>
                    </a:lnTo>
                    <a:cubicBezTo>
                      <a:pt x="88406" y="482600"/>
                      <a:pt x="57803" y="469924"/>
                      <a:pt x="35240" y="447360"/>
                    </a:cubicBezTo>
                    <a:cubicBezTo>
                      <a:pt x="12676" y="424797"/>
                      <a:pt x="0" y="394194"/>
                      <a:pt x="0" y="3622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26B6A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28575"/>
                <a:ext cx="2413000" cy="511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84"/>
                  </a:lnSpc>
                </a:pPr>
                <a:r>
                  <a:rPr lang="en-US" sz="1275" b="1" spc="76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COMPLETADO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06400" y="1038225"/>
              <a:ext cx="61468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2"/>
                </a:lnSpc>
              </a:pPr>
              <a:r>
                <a:rPr lang="en-US" sz="2550" b="1">
                  <a:solidFill>
                    <a:srgbClr val="14262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Base de datos relacional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400" y="2241550"/>
              <a:ext cx="6146800" cy="11005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8"/>
                </a:lnSpc>
              </a:pPr>
              <a:r>
                <a:rPr lang="en-US" sz="1725">
                  <a:solidFill>
                    <a:srgbClr val="687980"/>
                  </a:solidFill>
                  <a:latin typeface="Aptos"/>
                  <a:ea typeface="Aptos"/>
                  <a:cs typeface="Aptos"/>
                  <a:sym typeface="Aptos"/>
                </a:rPr>
                <a:t>Daniel Ávila</a:t>
              </a:r>
            </a:p>
            <a:p>
              <a:pPr algn="l">
                <a:lnSpc>
                  <a:spcPts val="2208"/>
                </a:lnSpc>
              </a:pPr>
              <a:r>
                <a:rPr lang="en-US" sz="1725">
                  <a:solidFill>
                    <a:srgbClr val="687980"/>
                  </a:solidFill>
                  <a:latin typeface="Aptos"/>
                  <a:ea typeface="Aptos"/>
                  <a:cs typeface="Aptos"/>
                  <a:sym typeface="Aptos"/>
                </a:rPr>
                <a:t>La estructura inicial era poco clara; se consolidaron los requerimientos levantados.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534150" y="2333625"/>
            <a:ext cx="5219700" cy="4953000"/>
            <a:chOff x="0" y="0"/>
            <a:chExt cx="6959600" cy="6604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959600" cy="6604000"/>
              <a:chOff x="0" y="0"/>
              <a:chExt cx="6959600" cy="6604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9596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6959600" h="6604000">
                    <a:moveTo>
                      <a:pt x="0" y="0"/>
                    </a:moveTo>
                    <a:lnTo>
                      <a:pt x="6959600" y="0"/>
                    </a:lnTo>
                    <a:lnTo>
                      <a:pt x="69596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9596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06400" y="304800"/>
              <a:ext cx="2413000" cy="482600"/>
              <a:chOff x="0" y="0"/>
              <a:chExt cx="2413000" cy="482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413000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4826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362284"/>
                    </a:lnTo>
                    <a:cubicBezTo>
                      <a:pt x="2413000" y="394194"/>
                      <a:pt x="2400324" y="424797"/>
                      <a:pt x="2377760" y="447360"/>
                    </a:cubicBezTo>
                    <a:cubicBezTo>
                      <a:pt x="2355197" y="469924"/>
                      <a:pt x="2324594" y="482600"/>
                      <a:pt x="2292684" y="482600"/>
                    </a:cubicBezTo>
                    <a:lnTo>
                      <a:pt x="120316" y="482600"/>
                    </a:lnTo>
                    <a:cubicBezTo>
                      <a:pt x="88406" y="482600"/>
                      <a:pt x="57803" y="469924"/>
                      <a:pt x="35240" y="447360"/>
                    </a:cubicBezTo>
                    <a:cubicBezTo>
                      <a:pt x="12676" y="424797"/>
                      <a:pt x="0" y="394194"/>
                      <a:pt x="0" y="3622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26B6A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2413000" cy="511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84"/>
                  </a:lnSpc>
                </a:pPr>
                <a:r>
                  <a:rPr lang="en-US" sz="1275" b="1" spc="76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COMPLETADO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06400" y="1038225"/>
              <a:ext cx="6146800" cy="873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2"/>
                </a:lnSpc>
              </a:pPr>
              <a:r>
                <a:rPr lang="en-US" sz="2550" b="1">
                  <a:solidFill>
                    <a:srgbClr val="14262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Entorno y diseño web inicial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6400" y="2241550"/>
              <a:ext cx="6146800" cy="11005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8"/>
                </a:lnSpc>
              </a:pPr>
              <a:r>
                <a:rPr lang="en-US" sz="1725">
                  <a:solidFill>
                    <a:srgbClr val="687980"/>
                  </a:solidFill>
                  <a:latin typeface="Aptos"/>
                  <a:ea typeface="Aptos"/>
                  <a:cs typeface="Aptos"/>
                  <a:sym typeface="Aptos"/>
                </a:rPr>
                <a:t>Benjamín Navarro</a:t>
              </a:r>
            </a:p>
            <a:p>
              <a:pPr algn="l">
                <a:lnSpc>
                  <a:spcPts val="2208"/>
                </a:lnSpc>
              </a:pPr>
              <a:r>
                <a:rPr lang="en-US" sz="1725">
                  <a:solidFill>
                    <a:srgbClr val="687980"/>
                  </a:solidFill>
                  <a:latin typeface="Aptos"/>
                  <a:ea typeface="Aptos"/>
                  <a:cs typeface="Aptos"/>
                  <a:sym typeface="Aptos"/>
                </a:rPr>
                <a:t>Brecha de entendimiento de la base de datos; manuales disponibles.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020550" y="2333625"/>
            <a:ext cx="5219700" cy="4953000"/>
            <a:chOff x="0" y="0"/>
            <a:chExt cx="6959600" cy="6604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959600" cy="6604000"/>
              <a:chOff x="0" y="0"/>
              <a:chExt cx="6959600" cy="6604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9596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6959600" h="6604000">
                    <a:moveTo>
                      <a:pt x="0" y="0"/>
                    </a:moveTo>
                    <a:lnTo>
                      <a:pt x="6959600" y="0"/>
                    </a:lnTo>
                    <a:lnTo>
                      <a:pt x="69596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69596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06400" y="304800"/>
              <a:ext cx="2413000" cy="482600"/>
              <a:chOff x="0" y="0"/>
              <a:chExt cx="2413000" cy="482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413000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4826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362284"/>
                    </a:lnTo>
                    <a:cubicBezTo>
                      <a:pt x="2413000" y="394194"/>
                      <a:pt x="2400324" y="424797"/>
                      <a:pt x="2377760" y="447360"/>
                    </a:cubicBezTo>
                    <a:cubicBezTo>
                      <a:pt x="2355197" y="469924"/>
                      <a:pt x="2324594" y="482600"/>
                      <a:pt x="2292684" y="482600"/>
                    </a:cubicBezTo>
                    <a:lnTo>
                      <a:pt x="120316" y="482600"/>
                    </a:lnTo>
                    <a:cubicBezTo>
                      <a:pt x="88406" y="482600"/>
                      <a:pt x="57803" y="469924"/>
                      <a:pt x="35240" y="447360"/>
                    </a:cubicBezTo>
                    <a:cubicBezTo>
                      <a:pt x="12676" y="424797"/>
                      <a:pt x="0" y="394194"/>
                      <a:pt x="0" y="3622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26B6A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28575"/>
                <a:ext cx="2413000" cy="511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84"/>
                  </a:lnSpc>
                </a:pPr>
                <a:r>
                  <a:rPr lang="en-US" sz="1275" b="1" spc="76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COMPLETADO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06400" y="1038225"/>
              <a:ext cx="61468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2"/>
                </a:lnSpc>
              </a:pPr>
              <a:r>
                <a:rPr lang="en-US" sz="2550" b="1">
                  <a:solidFill>
                    <a:srgbClr val="14262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QA de base y estructura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6400" y="2241550"/>
              <a:ext cx="6146800" cy="11005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8"/>
                </a:lnSpc>
              </a:pPr>
              <a:r>
                <a:rPr lang="en-US" sz="1725">
                  <a:solidFill>
                    <a:srgbClr val="687980"/>
                  </a:solidFill>
                  <a:latin typeface="Aptos"/>
                  <a:ea typeface="Aptos"/>
                  <a:cs typeface="Aptos"/>
                  <a:sym typeface="Aptos"/>
                </a:rPr>
                <a:t>Todo el equipo</a:t>
              </a:r>
            </a:p>
            <a:p>
              <a:pPr algn="l">
                <a:lnSpc>
                  <a:spcPts val="2208"/>
                </a:lnSpc>
              </a:pPr>
              <a:r>
                <a:rPr lang="en-US" sz="1725">
                  <a:solidFill>
                    <a:srgbClr val="687980"/>
                  </a:solidFill>
                  <a:latin typeface="Aptos"/>
                  <a:ea typeface="Aptos"/>
                  <a:cs typeface="Aptos"/>
                  <a:sym typeface="Aptos"/>
                </a:rPr>
                <a:t>Dificultad con la configuración de datos. Sin ajustes.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47750" y="7524750"/>
            <a:ext cx="5048250" cy="2190750"/>
            <a:chOff x="0" y="0"/>
            <a:chExt cx="6731000" cy="2921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731000" cy="2921000"/>
            </a:xfrm>
            <a:custGeom>
              <a:avLst/>
              <a:gdLst/>
              <a:ahLst/>
              <a:cxnLst/>
              <a:rect l="l" t="t" r="r" b="b"/>
              <a:pathLst>
                <a:path w="6731000" h="2921000">
                  <a:moveTo>
                    <a:pt x="127000" y="0"/>
                  </a:moveTo>
                  <a:lnTo>
                    <a:pt x="6604000" y="0"/>
                  </a:lnTo>
                  <a:cubicBezTo>
                    <a:pt x="6674140" y="0"/>
                    <a:pt x="6731000" y="56860"/>
                    <a:pt x="6731000" y="127000"/>
                  </a:cubicBezTo>
                  <a:lnTo>
                    <a:pt x="6731000" y="2794000"/>
                  </a:lnTo>
                  <a:cubicBezTo>
                    <a:pt x="6731000" y="2864140"/>
                    <a:pt x="6674140" y="2921000"/>
                    <a:pt x="6604000" y="2921000"/>
                  </a:cubicBezTo>
                  <a:lnTo>
                    <a:pt x="127000" y="2921000"/>
                  </a:lnTo>
                  <a:cubicBezTo>
                    <a:pt x="56860" y="2921000"/>
                    <a:pt x="0" y="2864140"/>
                    <a:pt x="0" y="279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6731000" cy="295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57300" y="7696200"/>
            <a:ext cx="1428750" cy="290576"/>
            <a:chOff x="0" y="0"/>
            <a:chExt cx="1905000" cy="38743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05000" cy="387435"/>
            </a:xfrm>
            <a:custGeom>
              <a:avLst/>
              <a:gdLst/>
              <a:ahLst/>
              <a:cxnLst/>
              <a:rect l="l" t="t" r="r" b="b"/>
              <a:pathLst>
                <a:path w="1905000" h="387435">
                  <a:moveTo>
                    <a:pt x="76200" y="0"/>
                  </a:moveTo>
                  <a:lnTo>
                    <a:pt x="1828800" y="0"/>
                  </a:lnTo>
                  <a:cubicBezTo>
                    <a:pt x="1870884" y="0"/>
                    <a:pt x="1905000" y="34116"/>
                    <a:pt x="1905000" y="76200"/>
                  </a:cubicBezTo>
                  <a:lnTo>
                    <a:pt x="1905000" y="311235"/>
                  </a:lnTo>
                  <a:cubicBezTo>
                    <a:pt x="1905000" y="331444"/>
                    <a:pt x="1896972" y="350826"/>
                    <a:pt x="1882682" y="365116"/>
                  </a:cubicBezTo>
                  <a:cubicBezTo>
                    <a:pt x="1868391" y="379406"/>
                    <a:pt x="1849009" y="387435"/>
                    <a:pt x="1828800" y="387435"/>
                  </a:cubicBezTo>
                  <a:lnTo>
                    <a:pt x="76200" y="387435"/>
                  </a:lnTo>
                  <a:cubicBezTo>
                    <a:pt x="34116" y="387435"/>
                    <a:pt x="0" y="353319"/>
                    <a:pt x="0" y="31123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7A4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1905000" cy="40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r>
                <a:rPr lang="en-US" sz="999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AJUSTADA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257300" y="8105775"/>
            <a:ext cx="46291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Gestión de citas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57300" y="8686800"/>
            <a:ext cx="4629150" cy="56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50">
                <a:solidFill>
                  <a:srgbClr val="6879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Responsables: todo el equipo · Ajustada: se desarrolló después de mascotas y dueños por falta de claridad en requerimientos.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619875" y="7524750"/>
            <a:ext cx="5048250" cy="2190750"/>
            <a:chOff x="0" y="0"/>
            <a:chExt cx="6731000" cy="2921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731000" cy="2921000"/>
            </a:xfrm>
            <a:custGeom>
              <a:avLst/>
              <a:gdLst/>
              <a:ahLst/>
              <a:cxnLst/>
              <a:rect l="l" t="t" r="r" b="b"/>
              <a:pathLst>
                <a:path w="6731000" h="2921000">
                  <a:moveTo>
                    <a:pt x="127000" y="0"/>
                  </a:moveTo>
                  <a:lnTo>
                    <a:pt x="6604000" y="0"/>
                  </a:lnTo>
                  <a:cubicBezTo>
                    <a:pt x="6674140" y="0"/>
                    <a:pt x="6731000" y="56860"/>
                    <a:pt x="6731000" y="127000"/>
                  </a:cubicBezTo>
                  <a:lnTo>
                    <a:pt x="6731000" y="2794000"/>
                  </a:lnTo>
                  <a:cubicBezTo>
                    <a:pt x="6731000" y="2864140"/>
                    <a:pt x="6674140" y="2921000"/>
                    <a:pt x="6604000" y="2921000"/>
                  </a:cubicBezTo>
                  <a:lnTo>
                    <a:pt x="127000" y="2921000"/>
                  </a:lnTo>
                  <a:cubicBezTo>
                    <a:pt x="56860" y="2921000"/>
                    <a:pt x="0" y="2864140"/>
                    <a:pt x="0" y="279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6731000" cy="295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29425" y="7696200"/>
            <a:ext cx="1428750" cy="290576"/>
            <a:chOff x="0" y="0"/>
            <a:chExt cx="1905000" cy="38743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905000" cy="387435"/>
            </a:xfrm>
            <a:custGeom>
              <a:avLst/>
              <a:gdLst/>
              <a:ahLst/>
              <a:cxnLst/>
              <a:rect l="l" t="t" r="r" b="b"/>
              <a:pathLst>
                <a:path w="1905000" h="387435">
                  <a:moveTo>
                    <a:pt x="76200" y="0"/>
                  </a:moveTo>
                  <a:lnTo>
                    <a:pt x="1828800" y="0"/>
                  </a:lnTo>
                  <a:cubicBezTo>
                    <a:pt x="1870884" y="0"/>
                    <a:pt x="1905000" y="34116"/>
                    <a:pt x="1905000" y="76200"/>
                  </a:cubicBezTo>
                  <a:lnTo>
                    <a:pt x="1905000" y="311235"/>
                  </a:lnTo>
                  <a:cubicBezTo>
                    <a:pt x="1905000" y="331444"/>
                    <a:pt x="1896972" y="350826"/>
                    <a:pt x="1882682" y="365116"/>
                  </a:cubicBezTo>
                  <a:cubicBezTo>
                    <a:pt x="1868391" y="379406"/>
                    <a:pt x="1849009" y="387435"/>
                    <a:pt x="1828800" y="387435"/>
                  </a:cubicBezTo>
                  <a:lnTo>
                    <a:pt x="76200" y="387435"/>
                  </a:lnTo>
                  <a:cubicBezTo>
                    <a:pt x="34116" y="387435"/>
                    <a:pt x="0" y="353319"/>
                    <a:pt x="0" y="31123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7A4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1905000" cy="40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r>
                <a:rPr lang="en-US" sz="999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AJUSTADA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6829425" y="8105775"/>
            <a:ext cx="46291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Pacientes y dueños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829425" y="8686800"/>
            <a:ext cx="4629150" cy="37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50">
                <a:solidFill>
                  <a:srgbClr val="6879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Responsables: todo el equipo · Ajustada: pasaron a ser los primeros módulos para habilitar el flujo principal.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2192000" y="7524750"/>
            <a:ext cx="5048250" cy="2190750"/>
            <a:chOff x="0" y="0"/>
            <a:chExt cx="6731000" cy="29210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731000" cy="2921000"/>
            </a:xfrm>
            <a:custGeom>
              <a:avLst/>
              <a:gdLst/>
              <a:ahLst/>
              <a:cxnLst/>
              <a:rect l="l" t="t" r="r" b="b"/>
              <a:pathLst>
                <a:path w="6731000" h="2921000">
                  <a:moveTo>
                    <a:pt x="127000" y="0"/>
                  </a:moveTo>
                  <a:lnTo>
                    <a:pt x="6604000" y="0"/>
                  </a:lnTo>
                  <a:cubicBezTo>
                    <a:pt x="6674140" y="0"/>
                    <a:pt x="6731000" y="56860"/>
                    <a:pt x="6731000" y="127000"/>
                  </a:cubicBezTo>
                  <a:lnTo>
                    <a:pt x="6731000" y="2794000"/>
                  </a:lnTo>
                  <a:cubicBezTo>
                    <a:pt x="6731000" y="2864140"/>
                    <a:pt x="6674140" y="2921000"/>
                    <a:pt x="6604000" y="2921000"/>
                  </a:cubicBezTo>
                  <a:lnTo>
                    <a:pt x="127000" y="2921000"/>
                  </a:lnTo>
                  <a:cubicBezTo>
                    <a:pt x="56860" y="2921000"/>
                    <a:pt x="0" y="2864140"/>
                    <a:pt x="0" y="279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6731000" cy="295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401550" y="7696200"/>
            <a:ext cx="1428750" cy="290576"/>
            <a:chOff x="0" y="0"/>
            <a:chExt cx="1905000" cy="38743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905000" cy="387435"/>
            </a:xfrm>
            <a:custGeom>
              <a:avLst/>
              <a:gdLst/>
              <a:ahLst/>
              <a:cxnLst/>
              <a:rect l="l" t="t" r="r" b="b"/>
              <a:pathLst>
                <a:path w="1905000" h="387435">
                  <a:moveTo>
                    <a:pt x="76200" y="0"/>
                  </a:moveTo>
                  <a:lnTo>
                    <a:pt x="1828800" y="0"/>
                  </a:lnTo>
                  <a:cubicBezTo>
                    <a:pt x="1870884" y="0"/>
                    <a:pt x="1905000" y="34116"/>
                    <a:pt x="1905000" y="76200"/>
                  </a:cubicBezTo>
                  <a:lnTo>
                    <a:pt x="1905000" y="311235"/>
                  </a:lnTo>
                  <a:cubicBezTo>
                    <a:pt x="1905000" y="331444"/>
                    <a:pt x="1896972" y="350826"/>
                    <a:pt x="1882682" y="365116"/>
                  </a:cubicBezTo>
                  <a:cubicBezTo>
                    <a:pt x="1868391" y="379406"/>
                    <a:pt x="1849009" y="387435"/>
                    <a:pt x="1828800" y="387435"/>
                  </a:cubicBezTo>
                  <a:lnTo>
                    <a:pt x="76200" y="387435"/>
                  </a:lnTo>
                  <a:cubicBezTo>
                    <a:pt x="34116" y="387435"/>
                    <a:pt x="0" y="353319"/>
                    <a:pt x="0" y="31123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6B6A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1905000" cy="40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r>
                <a:rPr lang="en-US" sz="999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COMPLETADO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2401550" y="8105775"/>
            <a:ext cx="46291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QA de citas y registros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401550" y="8686800"/>
            <a:ext cx="4629150" cy="56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50">
                <a:solidFill>
                  <a:srgbClr val="6879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Recurso: Postman · Responsables: todo el equipo · La documentación disponible abordó el desconocimiento inicial.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800100"/>
            <a:ext cx="1428750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45"/>
              </a:lnSpc>
              <a:spcBef>
                <a:spcPct val="0"/>
              </a:spcBef>
            </a:pPr>
            <a:r>
              <a:rPr lang="en-US" sz="5100" b="1" u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Módulos avanzados e integración final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562100"/>
            <a:ext cx="1000125" cy="76200"/>
            <a:chOff x="0" y="0"/>
            <a:chExt cx="1333500" cy="101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3500" cy="101600"/>
            </a:xfrm>
            <a:custGeom>
              <a:avLst/>
              <a:gdLst/>
              <a:ahLst/>
              <a:cxnLst/>
              <a:rect l="l" t="t" r="r" b="b"/>
              <a:pathLst>
                <a:path w="1333500" h="101600">
                  <a:moveTo>
                    <a:pt x="0" y="0"/>
                  </a:moveTo>
                  <a:lnTo>
                    <a:pt x="1333500" y="0"/>
                  </a:lnTo>
                  <a:lnTo>
                    <a:pt x="1333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F7A4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335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2333625"/>
            <a:ext cx="5219700" cy="4953000"/>
            <a:chOff x="0" y="0"/>
            <a:chExt cx="6959600" cy="6604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959600" cy="6604000"/>
              <a:chOff x="0" y="0"/>
              <a:chExt cx="6959600" cy="6604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9596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6959600" h="6604000">
                    <a:moveTo>
                      <a:pt x="0" y="0"/>
                    </a:moveTo>
                    <a:lnTo>
                      <a:pt x="6959600" y="0"/>
                    </a:lnTo>
                    <a:lnTo>
                      <a:pt x="69596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132F3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9596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06400" y="304800"/>
              <a:ext cx="2413000" cy="482600"/>
              <a:chOff x="0" y="0"/>
              <a:chExt cx="2413000" cy="482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413000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4826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362284"/>
                    </a:lnTo>
                    <a:cubicBezTo>
                      <a:pt x="2413000" y="394194"/>
                      <a:pt x="2400324" y="424797"/>
                      <a:pt x="2377760" y="447360"/>
                    </a:cubicBezTo>
                    <a:cubicBezTo>
                      <a:pt x="2355197" y="469924"/>
                      <a:pt x="2324594" y="482600"/>
                      <a:pt x="2292684" y="482600"/>
                    </a:cubicBezTo>
                    <a:lnTo>
                      <a:pt x="120316" y="482600"/>
                    </a:lnTo>
                    <a:cubicBezTo>
                      <a:pt x="88406" y="482600"/>
                      <a:pt x="57803" y="469924"/>
                      <a:pt x="35240" y="447360"/>
                    </a:cubicBezTo>
                    <a:cubicBezTo>
                      <a:pt x="12676" y="424797"/>
                      <a:pt x="0" y="394194"/>
                      <a:pt x="0" y="3622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FF7A4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28575"/>
                <a:ext cx="2413000" cy="511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84"/>
                  </a:lnSpc>
                </a:pPr>
                <a:r>
                  <a:rPr lang="en-US" sz="1275" b="1" spc="76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AJUSTADA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06400" y="1038225"/>
              <a:ext cx="61468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2"/>
                </a:lnSpc>
              </a:pPr>
              <a:r>
                <a:rPr lang="en-US" sz="25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Vacunas y recetas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400" y="2241550"/>
              <a:ext cx="6146800" cy="732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8"/>
                </a:lnSpc>
              </a:pPr>
              <a:r>
                <a:rPr lang="en-US" sz="1725">
                  <a:solidFill>
                    <a:srgbClr val="DCE7E4"/>
                  </a:solidFill>
                  <a:latin typeface="Aptos"/>
                  <a:ea typeface="Aptos"/>
                  <a:cs typeface="Aptos"/>
                  <a:sym typeface="Aptos"/>
                </a:rPr>
                <a:t>Requerimientos aún poco claros. El desarrollo fue postergado para proteger el flujo prioritario.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534150" y="2333625"/>
            <a:ext cx="5219700" cy="4953000"/>
            <a:chOff x="0" y="0"/>
            <a:chExt cx="6959600" cy="6604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959600" cy="6604000"/>
              <a:chOff x="0" y="0"/>
              <a:chExt cx="6959600" cy="6604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9596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6959600" h="6604000">
                    <a:moveTo>
                      <a:pt x="0" y="0"/>
                    </a:moveTo>
                    <a:lnTo>
                      <a:pt x="6959600" y="0"/>
                    </a:lnTo>
                    <a:lnTo>
                      <a:pt x="69596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132F3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9596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06400" y="304800"/>
              <a:ext cx="2413000" cy="482600"/>
              <a:chOff x="0" y="0"/>
              <a:chExt cx="2413000" cy="482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413000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4826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362284"/>
                    </a:lnTo>
                    <a:cubicBezTo>
                      <a:pt x="2413000" y="394194"/>
                      <a:pt x="2400324" y="424797"/>
                      <a:pt x="2377760" y="447360"/>
                    </a:cubicBezTo>
                    <a:cubicBezTo>
                      <a:pt x="2355197" y="469924"/>
                      <a:pt x="2324594" y="482600"/>
                      <a:pt x="2292684" y="482600"/>
                    </a:cubicBezTo>
                    <a:lnTo>
                      <a:pt x="120316" y="482600"/>
                    </a:lnTo>
                    <a:cubicBezTo>
                      <a:pt x="88406" y="482600"/>
                      <a:pt x="57803" y="469924"/>
                      <a:pt x="35240" y="447360"/>
                    </a:cubicBezTo>
                    <a:cubicBezTo>
                      <a:pt x="12676" y="424797"/>
                      <a:pt x="0" y="394194"/>
                      <a:pt x="0" y="3622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6879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2413000" cy="511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84"/>
                  </a:lnSpc>
                </a:pPr>
                <a:r>
                  <a:rPr lang="en-US" sz="1275" b="1" spc="76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NO INICIADO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06400" y="1038225"/>
              <a:ext cx="61468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2"/>
                </a:lnSpc>
              </a:pPr>
              <a:r>
                <a:rPr lang="en-US" sz="25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Notificaciones y cobros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6400" y="2241550"/>
              <a:ext cx="6146800" cy="732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8"/>
                </a:lnSpc>
              </a:pPr>
              <a:r>
                <a:rPr lang="en-US" sz="1725">
                  <a:solidFill>
                    <a:srgbClr val="DCE7E4"/>
                  </a:solidFill>
                  <a:latin typeface="Aptos"/>
                  <a:ea typeface="Aptos"/>
                  <a:cs typeface="Aptos"/>
                  <a:sym typeface="Aptos"/>
                </a:rPr>
                <a:t>Falta experiencia en notificaciones; el framework ofrece alternativas por evaluar.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020550" y="2333625"/>
            <a:ext cx="5219700" cy="4953000"/>
            <a:chOff x="0" y="0"/>
            <a:chExt cx="6959600" cy="6604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959600" cy="6604000"/>
              <a:chOff x="0" y="0"/>
              <a:chExt cx="6959600" cy="6604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9596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6959600" h="6604000">
                    <a:moveTo>
                      <a:pt x="0" y="0"/>
                    </a:moveTo>
                    <a:lnTo>
                      <a:pt x="6959600" y="0"/>
                    </a:lnTo>
                    <a:lnTo>
                      <a:pt x="69596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132F3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69596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06400" y="304800"/>
              <a:ext cx="2413000" cy="482600"/>
              <a:chOff x="0" y="0"/>
              <a:chExt cx="2413000" cy="482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413000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4826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362284"/>
                    </a:lnTo>
                    <a:cubicBezTo>
                      <a:pt x="2413000" y="394194"/>
                      <a:pt x="2400324" y="424797"/>
                      <a:pt x="2377760" y="447360"/>
                    </a:cubicBezTo>
                    <a:cubicBezTo>
                      <a:pt x="2355197" y="469924"/>
                      <a:pt x="2324594" y="482600"/>
                      <a:pt x="2292684" y="482600"/>
                    </a:cubicBezTo>
                    <a:lnTo>
                      <a:pt x="120316" y="482600"/>
                    </a:lnTo>
                    <a:cubicBezTo>
                      <a:pt x="88406" y="482600"/>
                      <a:pt x="57803" y="469924"/>
                      <a:pt x="35240" y="447360"/>
                    </a:cubicBezTo>
                    <a:cubicBezTo>
                      <a:pt x="12676" y="424797"/>
                      <a:pt x="0" y="394194"/>
                      <a:pt x="0" y="3622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3977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28575"/>
                <a:ext cx="2413000" cy="511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84"/>
                  </a:lnSpc>
                </a:pPr>
                <a:r>
                  <a:rPr lang="en-US" sz="1275" b="1" spc="76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EN CURSO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06400" y="1038225"/>
              <a:ext cx="61468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2"/>
                </a:lnSpc>
              </a:pPr>
              <a:r>
                <a:rPr lang="en-US" sz="25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Integración y archivo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6400" y="2241550"/>
              <a:ext cx="6146800" cy="11005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8"/>
                </a:lnSpc>
              </a:pPr>
              <a:r>
                <a:rPr lang="en-US" sz="1725">
                  <a:solidFill>
                    <a:srgbClr val="DCE7E4"/>
                  </a:solidFill>
                  <a:latin typeface="Aptos"/>
                  <a:ea typeface="Aptos"/>
                  <a:cs typeface="Aptos"/>
                  <a:sym typeface="Aptos"/>
                </a:rPr>
                <a:t>Benjamín Navarro</a:t>
              </a:r>
            </a:p>
            <a:p>
              <a:pPr algn="l">
                <a:lnSpc>
                  <a:spcPts val="2208"/>
                </a:lnSpc>
              </a:pPr>
              <a:r>
                <a:rPr lang="en-US" sz="1725">
                  <a:solidFill>
                    <a:srgbClr val="DCE7E4"/>
                  </a:solidFill>
                  <a:latin typeface="Aptos"/>
                  <a:ea typeface="Aptos"/>
                  <a:cs typeface="Aptos"/>
                  <a:sym typeface="Aptos"/>
                </a:rPr>
                <a:t>Pruebas y fechas complejas. Boletas se adelantó al incremento 2.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47750" y="7524750"/>
            <a:ext cx="5048250" cy="2190750"/>
            <a:chOff x="0" y="0"/>
            <a:chExt cx="6731000" cy="2921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731000" cy="2921000"/>
            </a:xfrm>
            <a:custGeom>
              <a:avLst/>
              <a:gdLst/>
              <a:ahLst/>
              <a:cxnLst/>
              <a:rect l="l" t="t" r="r" b="b"/>
              <a:pathLst>
                <a:path w="6731000" h="2921000">
                  <a:moveTo>
                    <a:pt x="127000" y="0"/>
                  </a:moveTo>
                  <a:lnTo>
                    <a:pt x="6604000" y="0"/>
                  </a:lnTo>
                  <a:cubicBezTo>
                    <a:pt x="6674140" y="0"/>
                    <a:pt x="6731000" y="56860"/>
                    <a:pt x="6731000" y="127000"/>
                  </a:cubicBezTo>
                  <a:lnTo>
                    <a:pt x="6731000" y="2794000"/>
                  </a:lnTo>
                  <a:cubicBezTo>
                    <a:pt x="6731000" y="2864140"/>
                    <a:pt x="6674140" y="2921000"/>
                    <a:pt x="6604000" y="2921000"/>
                  </a:cubicBezTo>
                  <a:lnTo>
                    <a:pt x="127000" y="2921000"/>
                  </a:lnTo>
                  <a:cubicBezTo>
                    <a:pt x="56860" y="2921000"/>
                    <a:pt x="0" y="2864140"/>
                    <a:pt x="0" y="279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6731000" cy="295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57300" y="7696200"/>
            <a:ext cx="1428750" cy="290576"/>
            <a:chOff x="0" y="0"/>
            <a:chExt cx="1905000" cy="38743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05000" cy="387435"/>
            </a:xfrm>
            <a:custGeom>
              <a:avLst/>
              <a:gdLst/>
              <a:ahLst/>
              <a:cxnLst/>
              <a:rect l="l" t="t" r="r" b="b"/>
              <a:pathLst>
                <a:path w="1905000" h="387435">
                  <a:moveTo>
                    <a:pt x="76200" y="0"/>
                  </a:moveTo>
                  <a:lnTo>
                    <a:pt x="1828800" y="0"/>
                  </a:lnTo>
                  <a:cubicBezTo>
                    <a:pt x="1870884" y="0"/>
                    <a:pt x="1905000" y="34116"/>
                    <a:pt x="1905000" y="76200"/>
                  </a:cubicBezTo>
                  <a:lnTo>
                    <a:pt x="1905000" y="311235"/>
                  </a:lnTo>
                  <a:cubicBezTo>
                    <a:pt x="1905000" y="331444"/>
                    <a:pt x="1896972" y="350826"/>
                    <a:pt x="1882682" y="365116"/>
                  </a:cubicBezTo>
                  <a:cubicBezTo>
                    <a:pt x="1868391" y="379406"/>
                    <a:pt x="1849009" y="387435"/>
                    <a:pt x="1828800" y="387435"/>
                  </a:cubicBezTo>
                  <a:lnTo>
                    <a:pt x="76200" y="387435"/>
                  </a:lnTo>
                  <a:cubicBezTo>
                    <a:pt x="34116" y="387435"/>
                    <a:pt x="0" y="353319"/>
                    <a:pt x="0" y="31123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8798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1905000" cy="40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r>
                <a:rPr lang="en-US" sz="999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 INICIADO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257300" y="8105775"/>
            <a:ext cx="46291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Integración + diseño web definitivo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57300" y="8686800"/>
            <a:ext cx="4629150" cy="37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50">
                <a:solidFill>
                  <a:srgbClr val="6879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Estado: no iniciado · Riesgo: las API del backend requieren mayor claridad y coordinación de rutas.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619875" y="7524750"/>
            <a:ext cx="5048250" cy="2190750"/>
            <a:chOff x="0" y="0"/>
            <a:chExt cx="6731000" cy="2921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731000" cy="2921000"/>
            </a:xfrm>
            <a:custGeom>
              <a:avLst/>
              <a:gdLst/>
              <a:ahLst/>
              <a:cxnLst/>
              <a:rect l="l" t="t" r="r" b="b"/>
              <a:pathLst>
                <a:path w="6731000" h="2921000">
                  <a:moveTo>
                    <a:pt x="127000" y="0"/>
                  </a:moveTo>
                  <a:lnTo>
                    <a:pt x="6604000" y="0"/>
                  </a:lnTo>
                  <a:cubicBezTo>
                    <a:pt x="6674140" y="0"/>
                    <a:pt x="6731000" y="56860"/>
                    <a:pt x="6731000" y="127000"/>
                  </a:cubicBezTo>
                  <a:lnTo>
                    <a:pt x="6731000" y="2794000"/>
                  </a:lnTo>
                  <a:cubicBezTo>
                    <a:pt x="6731000" y="2864140"/>
                    <a:pt x="6674140" y="2921000"/>
                    <a:pt x="6604000" y="2921000"/>
                  </a:cubicBezTo>
                  <a:lnTo>
                    <a:pt x="127000" y="2921000"/>
                  </a:lnTo>
                  <a:cubicBezTo>
                    <a:pt x="56860" y="2921000"/>
                    <a:pt x="0" y="2864140"/>
                    <a:pt x="0" y="279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6731000" cy="295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29425" y="7696200"/>
            <a:ext cx="1428750" cy="290576"/>
            <a:chOff x="0" y="0"/>
            <a:chExt cx="1905000" cy="38743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905000" cy="387435"/>
            </a:xfrm>
            <a:custGeom>
              <a:avLst/>
              <a:gdLst/>
              <a:ahLst/>
              <a:cxnLst/>
              <a:rect l="l" t="t" r="r" b="b"/>
              <a:pathLst>
                <a:path w="1905000" h="387435">
                  <a:moveTo>
                    <a:pt x="76200" y="0"/>
                  </a:moveTo>
                  <a:lnTo>
                    <a:pt x="1828800" y="0"/>
                  </a:lnTo>
                  <a:cubicBezTo>
                    <a:pt x="1870884" y="0"/>
                    <a:pt x="1905000" y="34116"/>
                    <a:pt x="1905000" y="76200"/>
                  </a:cubicBezTo>
                  <a:lnTo>
                    <a:pt x="1905000" y="311235"/>
                  </a:lnTo>
                  <a:cubicBezTo>
                    <a:pt x="1905000" y="331444"/>
                    <a:pt x="1896972" y="350826"/>
                    <a:pt x="1882682" y="365116"/>
                  </a:cubicBezTo>
                  <a:cubicBezTo>
                    <a:pt x="1868391" y="379406"/>
                    <a:pt x="1849009" y="387435"/>
                    <a:pt x="1828800" y="387435"/>
                  </a:cubicBezTo>
                  <a:lnTo>
                    <a:pt x="76200" y="387435"/>
                  </a:lnTo>
                  <a:cubicBezTo>
                    <a:pt x="34116" y="387435"/>
                    <a:pt x="0" y="353319"/>
                    <a:pt x="0" y="31123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8798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1905000" cy="40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r>
                <a:rPr lang="en-US" sz="999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 INICIADO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6829425" y="8105775"/>
            <a:ext cx="46291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QA y testing integral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829425" y="8686800"/>
            <a:ext cx="4629150" cy="37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50">
                <a:solidFill>
                  <a:srgbClr val="6879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Estado: no iniciado · Alternativa: pruebas unitarias y mayor coordinación ante fallas integrales.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2192000" y="7524750"/>
            <a:ext cx="5048250" cy="2190750"/>
            <a:chOff x="0" y="0"/>
            <a:chExt cx="6731000" cy="29210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731000" cy="2921000"/>
            </a:xfrm>
            <a:custGeom>
              <a:avLst/>
              <a:gdLst/>
              <a:ahLst/>
              <a:cxnLst/>
              <a:rect l="l" t="t" r="r" b="b"/>
              <a:pathLst>
                <a:path w="6731000" h="2921000">
                  <a:moveTo>
                    <a:pt x="127000" y="0"/>
                  </a:moveTo>
                  <a:lnTo>
                    <a:pt x="6604000" y="0"/>
                  </a:lnTo>
                  <a:cubicBezTo>
                    <a:pt x="6674140" y="0"/>
                    <a:pt x="6731000" y="56860"/>
                    <a:pt x="6731000" y="127000"/>
                  </a:cubicBezTo>
                  <a:lnTo>
                    <a:pt x="6731000" y="2794000"/>
                  </a:lnTo>
                  <a:cubicBezTo>
                    <a:pt x="6731000" y="2864140"/>
                    <a:pt x="6674140" y="2921000"/>
                    <a:pt x="6604000" y="2921000"/>
                  </a:cubicBezTo>
                  <a:lnTo>
                    <a:pt x="127000" y="2921000"/>
                  </a:lnTo>
                  <a:cubicBezTo>
                    <a:pt x="56860" y="2921000"/>
                    <a:pt x="0" y="2864140"/>
                    <a:pt x="0" y="279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6731000" cy="295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401550" y="7696200"/>
            <a:ext cx="1428750" cy="290576"/>
            <a:chOff x="0" y="0"/>
            <a:chExt cx="1905000" cy="38743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905000" cy="387435"/>
            </a:xfrm>
            <a:custGeom>
              <a:avLst/>
              <a:gdLst/>
              <a:ahLst/>
              <a:cxnLst/>
              <a:rect l="l" t="t" r="r" b="b"/>
              <a:pathLst>
                <a:path w="1905000" h="387435">
                  <a:moveTo>
                    <a:pt x="76200" y="0"/>
                  </a:moveTo>
                  <a:lnTo>
                    <a:pt x="1828800" y="0"/>
                  </a:lnTo>
                  <a:cubicBezTo>
                    <a:pt x="1870884" y="0"/>
                    <a:pt x="1905000" y="34116"/>
                    <a:pt x="1905000" y="76200"/>
                  </a:cubicBezTo>
                  <a:lnTo>
                    <a:pt x="1905000" y="311235"/>
                  </a:lnTo>
                  <a:cubicBezTo>
                    <a:pt x="1905000" y="331444"/>
                    <a:pt x="1896972" y="350826"/>
                    <a:pt x="1882682" y="365116"/>
                  </a:cubicBezTo>
                  <a:cubicBezTo>
                    <a:pt x="1868391" y="379406"/>
                    <a:pt x="1849009" y="387435"/>
                    <a:pt x="1828800" y="387435"/>
                  </a:cubicBezTo>
                  <a:lnTo>
                    <a:pt x="76200" y="387435"/>
                  </a:lnTo>
                  <a:cubicBezTo>
                    <a:pt x="34116" y="387435"/>
                    <a:pt x="0" y="353319"/>
                    <a:pt x="0" y="31123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8798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1905000" cy="40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r>
                <a:rPr lang="en-US" sz="999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 INICIADO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2401550" y="8105775"/>
            <a:ext cx="46291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Sistema funcional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401550" y="8686800"/>
            <a:ext cx="4629150" cy="37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50">
                <a:solidFill>
                  <a:srgbClr val="6879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Estado: no iniciado · Riesgo: dificultad con el hosting; existen alternativas disponibles para despliegue.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800100"/>
            <a:ext cx="1428750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45"/>
              </a:lnSpc>
              <a:spcBef>
                <a:spcPct val="0"/>
              </a:spcBef>
            </a:pPr>
            <a:r>
              <a:rPr lang="en-US" sz="5100" b="1" u="none" strike="noStrike">
                <a:solidFill>
                  <a:srgbClr val="1426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Pendientes y ajustes del monitoreo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562100"/>
            <a:ext cx="1000125" cy="76200"/>
            <a:chOff x="0" y="0"/>
            <a:chExt cx="1333500" cy="101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3500" cy="101600"/>
            </a:xfrm>
            <a:custGeom>
              <a:avLst/>
              <a:gdLst/>
              <a:ahLst/>
              <a:cxnLst/>
              <a:rect l="l" t="t" r="r" b="b"/>
              <a:pathLst>
                <a:path w="1333500" h="101600">
                  <a:moveTo>
                    <a:pt x="0" y="0"/>
                  </a:moveTo>
                  <a:lnTo>
                    <a:pt x="1333500" y="0"/>
                  </a:lnTo>
                  <a:lnTo>
                    <a:pt x="1333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F7A4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335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2143125"/>
            <a:ext cx="7962900" cy="3143250"/>
            <a:chOff x="0" y="0"/>
            <a:chExt cx="10617200" cy="4191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0617200" cy="4191000"/>
              <a:chOff x="0" y="0"/>
              <a:chExt cx="10617200" cy="4191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6172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10617200" h="4191000">
                    <a:moveTo>
                      <a:pt x="0" y="0"/>
                    </a:moveTo>
                    <a:lnTo>
                      <a:pt x="10617200" y="0"/>
                    </a:lnTo>
                    <a:lnTo>
                      <a:pt x="106172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06172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06400" y="304800"/>
              <a:ext cx="2413000" cy="482600"/>
              <a:chOff x="0" y="0"/>
              <a:chExt cx="2413000" cy="482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413000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4826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362284"/>
                    </a:lnTo>
                    <a:cubicBezTo>
                      <a:pt x="2413000" y="394194"/>
                      <a:pt x="2400324" y="424797"/>
                      <a:pt x="2377760" y="447360"/>
                    </a:cubicBezTo>
                    <a:cubicBezTo>
                      <a:pt x="2355197" y="469924"/>
                      <a:pt x="2324594" y="482600"/>
                      <a:pt x="2292684" y="482600"/>
                    </a:cubicBezTo>
                    <a:lnTo>
                      <a:pt x="120316" y="482600"/>
                    </a:lnTo>
                    <a:cubicBezTo>
                      <a:pt x="88406" y="482600"/>
                      <a:pt x="57803" y="469924"/>
                      <a:pt x="35240" y="447360"/>
                    </a:cubicBezTo>
                    <a:cubicBezTo>
                      <a:pt x="12676" y="424797"/>
                      <a:pt x="0" y="394194"/>
                      <a:pt x="0" y="3622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6879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28575"/>
                <a:ext cx="2413000" cy="511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84"/>
                  </a:lnSpc>
                </a:pPr>
                <a:r>
                  <a:rPr lang="en-US" sz="1275" b="1" spc="76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NO INICIADO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06400" y="1038225"/>
              <a:ext cx="98044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2"/>
                </a:lnSpc>
              </a:pPr>
              <a:r>
                <a:rPr lang="en-US" sz="2550" b="1">
                  <a:solidFill>
                    <a:srgbClr val="14262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Pruebas finales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400" y="2241550"/>
              <a:ext cx="9804400" cy="363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8"/>
                </a:lnSpc>
              </a:pPr>
              <a:r>
                <a:rPr lang="en-US" sz="1725">
                  <a:solidFill>
                    <a:srgbClr val="687980"/>
                  </a:solidFill>
                  <a:latin typeface="Aptos"/>
                  <a:ea typeface="Aptos"/>
                  <a:cs typeface="Aptos"/>
                  <a:sym typeface="Aptos"/>
                </a:rPr>
                <a:t>Corregir errores encontrados y consolidar las pruebas unitarias ya realizadas.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77350" y="2143125"/>
            <a:ext cx="7962900" cy="3143250"/>
            <a:chOff x="0" y="0"/>
            <a:chExt cx="10617200" cy="4191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0617200" cy="4191000"/>
              <a:chOff x="0" y="0"/>
              <a:chExt cx="10617200" cy="4191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06172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10617200" h="4191000">
                    <a:moveTo>
                      <a:pt x="0" y="0"/>
                    </a:moveTo>
                    <a:lnTo>
                      <a:pt x="10617200" y="0"/>
                    </a:lnTo>
                    <a:lnTo>
                      <a:pt x="106172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06172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06400" y="304800"/>
              <a:ext cx="2413000" cy="482600"/>
              <a:chOff x="0" y="0"/>
              <a:chExt cx="2413000" cy="482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413000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4826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362284"/>
                    </a:lnTo>
                    <a:cubicBezTo>
                      <a:pt x="2413000" y="394194"/>
                      <a:pt x="2400324" y="424797"/>
                      <a:pt x="2377760" y="447360"/>
                    </a:cubicBezTo>
                    <a:cubicBezTo>
                      <a:pt x="2355197" y="469924"/>
                      <a:pt x="2324594" y="482600"/>
                      <a:pt x="2292684" y="482600"/>
                    </a:cubicBezTo>
                    <a:lnTo>
                      <a:pt x="120316" y="482600"/>
                    </a:lnTo>
                    <a:cubicBezTo>
                      <a:pt x="88406" y="482600"/>
                      <a:pt x="57803" y="469924"/>
                      <a:pt x="35240" y="447360"/>
                    </a:cubicBezTo>
                    <a:cubicBezTo>
                      <a:pt x="12676" y="424797"/>
                      <a:pt x="0" y="394194"/>
                      <a:pt x="0" y="3622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6879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2413000" cy="511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84"/>
                  </a:lnSpc>
                </a:pPr>
                <a:r>
                  <a:rPr lang="en-US" sz="1275" b="1" spc="76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NO INICIADO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06400" y="1038225"/>
              <a:ext cx="98044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2"/>
                </a:lnSpc>
              </a:pPr>
              <a:r>
                <a:rPr lang="en-US" sz="2550" b="1">
                  <a:solidFill>
                    <a:srgbClr val="14262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Documentación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6400" y="2241550"/>
              <a:ext cx="9804400" cy="732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8"/>
                </a:lnSpc>
              </a:pPr>
              <a:r>
                <a:rPr lang="en-US" sz="1725">
                  <a:solidFill>
                    <a:srgbClr val="687980"/>
                  </a:solidFill>
                  <a:latin typeface="Aptos"/>
                  <a:ea typeface="Aptos"/>
                  <a:cs typeface="Aptos"/>
                  <a:sym typeface="Aptos"/>
                </a:rPr>
                <a:t>Alinear código y diagramas mediante plantillas técnicas y de usuario estandarizadas.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47750" y="5553075"/>
            <a:ext cx="7962900" cy="3143250"/>
            <a:chOff x="0" y="0"/>
            <a:chExt cx="10617200" cy="4191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0617200" cy="4191000"/>
              <a:chOff x="0" y="0"/>
              <a:chExt cx="10617200" cy="4191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06172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10617200" h="4191000">
                    <a:moveTo>
                      <a:pt x="0" y="0"/>
                    </a:moveTo>
                    <a:lnTo>
                      <a:pt x="10617200" y="0"/>
                    </a:lnTo>
                    <a:lnTo>
                      <a:pt x="106172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06172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06400" y="304800"/>
              <a:ext cx="2413000" cy="482600"/>
              <a:chOff x="0" y="0"/>
              <a:chExt cx="2413000" cy="482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413000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4826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362284"/>
                    </a:lnTo>
                    <a:cubicBezTo>
                      <a:pt x="2413000" y="394194"/>
                      <a:pt x="2400324" y="424797"/>
                      <a:pt x="2377760" y="447360"/>
                    </a:cubicBezTo>
                    <a:cubicBezTo>
                      <a:pt x="2355197" y="469924"/>
                      <a:pt x="2324594" y="482600"/>
                      <a:pt x="2292684" y="482600"/>
                    </a:cubicBezTo>
                    <a:lnTo>
                      <a:pt x="120316" y="482600"/>
                    </a:lnTo>
                    <a:cubicBezTo>
                      <a:pt x="88406" y="482600"/>
                      <a:pt x="57803" y="469924"/>
                      <a:pt x="35240" y="447360"/>
                    </a:cubicBezTo>
                    <a:cubicBezTo>
                      <a:pt x="12676" y="424797"/>
                      <a:pt x="0" y="394194"/>
                      <a:pt x="0" y="3622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6879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28575"/>
                <a:ext cx="2413000" cy="511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84"/>
                  </a:lnSpc>
                </a:pPr>
                <a:r>
                  <a:rPr lang="en-US" sz="1275" b="1" spc="76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NO INICIADO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06400" y="1038225"/>
              <a:ext cx="98044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2"/>
                </a:lnSpc>
              </a:pPr>
              <a:r>
                <a:rPr lang="en-US" sz="2550" b="1">
                  <a:solidFill>
                    <a:srgbClr val="14262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Informe y defensa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6400" y="2241550"/>
              <a:ext cx="9804400" cy="363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8"/>
                </a:lnSpc>
              </a:pPr>
              <a:r>
                <a:rPr lang="en-US" sz="1725">
                  <a:solidFill>
                    <a:srgbClr val="687980"/>
                  </a:solidFill>
                  <a:latin typeface="Aptos"/>
                  <a:ea typeface="Aptos"/>
                  <a:cs typeface="Aptos"/>
                  <a:sym typeface="Aptos"/>
                </a:rPr>
                <a:t>Definir días de reunión para resolver la coordinación del equipo.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277350" y="5553075"/>
            <a:ext cx="7962900" cy="3143250"/>
            <a:chOff x="0" y="0"/>
            <a:chExt cx="10617200" cy="41910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0617200" cy="4191000"/>
              <a:chOff x="0" y="0"/>
              <a:chExt cx="10617200" cy="4191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06172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10617200" h="4191000">
                    <a:moveTo>
                      <a:pt x="0" y="0"/>
                    </a:moveTo>
                    <a:lnTo>
                      <a:pt x="10617200" y="0"/>
                    </a:lnTo>
                    <a:lnTo>
                      <a:pt x="106172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06172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406400" y="304800"/>
              <a:ext cx="2413000" cy="482600"/>
              <a:chOff x="0" y="0"/>
              <a:chExt cx="2413000" cy="4826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2413000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4826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362284"/>
                    </a:lnTo>
                    <a:cubicBezTo>
                      <a:pt x="2413000" y="394194"/>
                      <a:pt x="2400324" y="424797"/>
                      <a:pt x="2377760" y="447360"/>
                    </a:cubicBezTo>
                    <a:cubicBezTo>
                      <a:pt x="2355197" y="469924"/>
                      <a:pt x="2324594" y="482600"/>
                      <a:pt x="2292684" y="482600"/>
                    </a:cubicBezTo>
                    <a:lnTo>
                      <a:pt x="120316" y="482600"/>
                    </a:lnTo>
                    <a:cubicBezTo>
                      <a:pt x="88406" y="482600"/>
                      <a:pt x="57803" y="469924"/>
                      <a:pt x="35240" y="447360"/>
                    </a:cubicBezTo>
                    <a:cubicBezTo>
                      <a:pt x="12676" y="424797"/>
                      <a:pt x="0" y="394194"/>
                      <a:pt x="0" y="3622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68798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28575"/>
                <a:ext cx="2413000" cy="511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84"/>
                  </a:lnSpc>
                </a:pPr>
                <a:r>
                  <a:rPr lang="en-US" sz="1275" b="1" spc="76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NO INICIADO</a:t>
                </a:r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406400" y="1038225"/>
              <a:ext cx="98044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2"/>
                </a:lnSpc>
              </a:pPr>
              <a:r>
                <a:rPr lang="en-US" sz="2550" b="1">
                  <a:solidFill>
                    <a:srgbClr val="14262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Entrega final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6400" y="2241550"/>
              <a:ext cx="9804400" cy="363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8"/>
                </a:lnSpc>
              </a:pPr>
              <a:r>
                <a:rPr lang="en-US" sz="1725">
                  <a:solidFill>
                    <a:srgbClr val="687980"/>
                  </a:solidFill>
                  <a:latin typeface="Aptos"/>
                  <a:ea typeface="Aptos"/>
                  <a:cs typeface="Aptos"/>
                  <a:sym typeface="Aptos"/>
                </a:rPr>
                <a:t>Mantener pruebas continuas para absorber bugs imprevistos antes del cierre.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47750" y="8858250"/>
            <a:ext cx="16192500" cy="1095375"/>
            <a:chOff x="0" y="0"/>
            <a:chExt cx="21590000" cy="14605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590000" cy="1460500"/>
            </a:xfrm>
            <a:custGeom>
              <a:avLst/>
              <a:gdLst/>
              <a:ahLst/>
              <a:cxnLst/>
              <a:rect l="l" t="t" r="r" b="b"/>
              <a:pathLst>
                <a:path w="21590000" h="1460500">
                  <a:moveTo>
                    <a:pt x="127000" y="0"/>
                  </a:moveTo>
                  <a:lnTo>
                    <a:pt x="21463000" y="0"/>
                  </a:lnTo>
                  <a:cubicBezTo>
                    <a:pt x="21533140" y="0"/>
                    <a:pt x="21590000" y="56860"/>
                    <a:pt x="21590000" y="127000"/>
                  </a:cubicBezTo>
                  <a:lnTo>
                    <a:pt x="21590000" y="1333500"/>
                  </a:lnTo>
                  <a:cubicBezTo>
                    <a:pt x="21590000" y="1403640"/>
                    <a:pt x="21533140" y="1460500"/>
                    <a:pt x="21463000" y="1460500"/>
                  </a:cubicBezTo>
                  <a:lnTo>
                    <a:pt x="127000" y="1460500"/>
                  </a:lnTo>
                  <a:cubicBezTo>
                    <a:pt x="56860" y="1460500"/>
                    <a:pt x="0" y="1403640"/>
                    <a:pt x="0" y="13335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32F3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21590000" cy="1498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57300" y="9363075"/>
            <a:ext cx="1428750" cy="462026"/>
            <a:chOff x="0" y="0"/>
            <a:chExt cx="1905000" cy="61603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905000" cy="616035"/>
            </a:xfrm>
            <a:custGeom>
              <a:avLst/>
              <a:gdLst/>
              <a:ahLst/>
              <a:cxnLst/>
              <a:rect l="l" t="t" r="r" b="b"/>
              <a:pathLst>
                <a:path w="1905000" h="616035">
                  <a:moveTo>
                    <a:pt x="76200" y="0"/>
                  </a:moveTo>
                  <a:lnTo>
                    <a:pt x="1828800" y="0"/>
                  </a:lnTo>
                  <a:cubicBezTo>
                    <a:pt x="1870884" y="0"/>
                    <a:pt x="1905000" y="34116"/>
                    <a:pt x="1905000" y="76200"/>
                  </a:cubicBezTo>
                  <a:lnTo>
                    <a:pt x="1905000" y="539835"/>
                  </a:lnTo>
                  <a:cubicBezTo>
                    <a:pt x="1905000" y="560044"/>
                    <a:pt x="1896972" y="579426"/>
                    <a:pt x="1882682" y="593716"/>
                  </a:cubicBezTo>
                  <a:cubicBezTo>
                    <a:pt x="1868391" y="608006"/>
                    <a:pt x="1849009" y="616035"/>
                    <a:pt x="1828800" y="616035"/>
                  </a:cubicBezTo>
                  <a:lnTo>
                    <a:pt x="76200" y="616035"/>
                  </a:lnTo>
                  <a:cubicBezTo>
                    <a:pt x="34116" y="616035"/>
                    <a:pt x="0" y="581919"/>
                    <a:pt x="0" y="53983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7A4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1905000" cy="635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r>
                <a:rPr lang="en-US" sz="999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AJUSTES Y CONTEXTO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257300" y="8977630"/>
            <a:ext cx="1577340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Ajustes a partir del monitoreo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828081" y="9405938"/>
            <a:ext cx="14202619" cy="37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250">
                <a:solidFill>
                  <a:srgbClr val="DCE7E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Facilitadores: disponibilidad de la veterinaria, encuesta clarificadora y distribución simple de tareas. Dificultades: notificaciones y exámenes; exámenes se conectó a Drive mediante API. Se modificó el inicio y orden de módulos; lo no iniciado o retrasado depende del desarrollo pendiente.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1384321"/>
            <a:ext cx="7519029" cy="253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5"/>
              </a:lnSpc>
            </a:pPr>
            <a:r>
              <a:rPr lang="en-US" sz="69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Cerrar la Fase 2</a:t>
            </a:r>
          </a:p>
          <a:p>
            <a:pPr algn="l">
              <a:lnSpc>
                <a:spcPts val="6555"/>
              </a:lnSpc>
            </a:pPr>
            <a:r>
              <a:rPr lang="en-US" sz="69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 foco compartido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5063680"/>
            <a:ext cx="7429500" cy="99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00">
                <a:solidFill>
                  <a:srgbClr val="DCE7E4"/>
                </a:solidFill>
                <a:latin typeface="Aptos"/>
                <a:ea typeface="Aptos"/>
                <a:cs typeface="Aptos"/>
                <a:sym typeface="Aptos"/>
              </a:rPr>
              <a:t>Avance positivo en módulos principales y evidencia funcional. Persisten brechas de comunicación, integración, pruebas y documentación.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7610475"/>
            <a:ext cx="8572500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600" b="1">
                <a:solidFill>
                  <a:srgbClr val="26B6A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Coordinación + comunicación</a:t>
            </a:r>
          </a:p>
          <a:p>
            <a:pPr algn="l">
              <a:lnSpc>
                <a:spcPts val="3419"/>
              </a:lnSpc>
            </a:pPr>
            <a:r>
              <a:rPr lang="en-US" sz="3600" b="1">
                <a:solidFill>
                  <a:srgbClr val="26B6A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para culminar con éxito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715500" y="1428750"/>
            <a:ext cx="7524750" cy="1000125"/>
            <a:chOff x="0" y="0"/>
            <a:chExt cx="10033000" cy="13335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0033000" cy="1333500"/>
              <a:chOff x="0" y="0"/>
              <a:chExt cx="10033000" cy="13335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0330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13335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FF7A4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0033000" cy="137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508000" y="428625"/>
              <a:ext cx="9017000" cy="403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37"/>
                </a:lnSpc>
              </a:pPr>
              <a:r>
                <a:rPr lang="en-US" sz="22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  Integrar módulos y diseño web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15500" y="2809875"/>
            <a:ext cx="7524750" cy="1000125"/>
            <a:chOff x="0" y="0"/>
            <a:chExt cx="10033000" cy="13335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0033000" cy="1333500"/>
              <a:chOff x="0" y="0"/>
              <a:chExt cx="10033000" cy="13335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330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13335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132F3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10033000" cy="137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508000" y="428625"/>
              <a:ext cx="9017000" cy="403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37"/>
                </a:lnSpc>
              </a:pPr>
              <a:r>
                <a:rPr lang="en-US" sz="22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  Ejecutar QA integral y pruebas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715500" y="4191000"/>
            <a:ext cx="7524750" cy="1000125"/>
            <a:chOff x="0" y="0"/>
            <a:chExt cx="10033000" cy="13335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0033000" cy="1333500"/>
              <a:chOff x="0" y="0"/>
              <a:chExt cx="10033000" cy="13335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00330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13335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132F3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0033000" cy="137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508000" y="428625"/>
              <a:ext cx="9017000" cy="403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37"/>
                </a:lnSpc>
              </a:pPr>
              <a:r>
                <a:rPr lang="en-US" sz="22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  Documentar técnica y usuario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15500" y="5572125"/>
            <a:ext cx="7524750" cy="1000125"/>
            <a:chOff x="0" y="0"/>
            <a:chExt cx="10033000" cy="13335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0033000" cy="1333500"/>
              <a:chOff x="0" y="0"/>
              <a:chExt cx="10033000" cy="13335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00330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13335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132F3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0033000" cy="137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508000" y="428625"/>
              <a:ext cx="9017000" cy="403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37"/>
                </a:lnSpc>
              </a:pPr>
              <a:r>
                <a:rPr lang="en-US" sz="22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  Preparar informe y defensa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15500" y="6953250"/>
            <a:ext cx="7524750" cy="1000125"/>
            <a:chOff x="0" y="0"/>
            <a:chExt cx="10033000" cy="13335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0033000" cy="1333500"/>
              <a:chOff x="0" y="0"/>
              <a:chExt cx="10033000" cy="13335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00330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13335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132F3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0033000" cy="137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508000" y="428625"/>
              <a:ext cx="9017000" cy="403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37"/>
                </a:lnSpc>
              </a:pPr>
              <a:r>
                <a:rPr lang="en-US" sz="2250" b="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  Resolver hosting y módulos especiales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Microsoft Office PowerPoint</Application>
  <PresentationFormat>Personalizado</PresentationFormat>
  <Paragraphs>120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Aptos</vt:lpstr>
      <vt:lpstr>Calibri</vt:lpstr>
      <vt:lpstr>Aileron Ultra-Bold</vt:lpstr>
      <vt:lpstr>Arial</vt:lpstr>
      <vt:lpstr>Aileron</vt:lpstr>
      <vt:lpstr>League Spartan</vt:lpstr>
      <vt:lpstr>Aptos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Trabajo</dc:title>
  <cp:lastModifiedBy>GOGEICHI X</cp:lastModifiedBy>
  <cp:revision>2</cp:revision>
  <dcterms:created xsi:type="dcterms:W3CDTF">2006-08-16T00:00:00Z</dcterms:created>
  <dcterms:modified xsi:type="dcterms:W3CDTF">2026-10-14T00:43:54Z</dcterms:modified>
  <dc:identifier>DAHX73uVf5k</dc:identifier>
</cp:coreProperties>
</file>